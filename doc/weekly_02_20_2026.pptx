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8" r:id="rId5"/>
    <p:sldId id="290" r:id="rId6"/>
    <p:sldId id="256" r:id="rId7"/>
    <p:sldId id="291" r:id="rId8"/>
    <p:sldId id="293" r:id="rId9"/>
    <p:sldId id="289" r:id="rId10"/>
    <p:sldId id="292" r:id="rId11"/>
    <p:sldId id="294" r:id="rId12"/>
    <p:sldId id="295" r:id="rId13"/>
    <p:sldId id="296" r:id="rId14"/>
    <p:sldId id="297" r:id="rId15"/>
    <p:sldId id="299" r:id="rId16"/>
    <p:sldId id="298" r:id="rId17"/>
    <p:sldId id="300" r:id="rId1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94" autoAdjust="0"/>
  </p:normalViewPr>
  <p:slideViewPr>
    <p:cSldViewPr snapToGrid="0">
      <p:cViewPr varScale="1">
        <p:scale>
          <a:sx n="102" d="100"/>
          <a:sy n="102" d="100"/>
        </p:scale>
        <p:origin x="96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E7C3759-1457-46FB-8F72-9FC969C2E29E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D9B200B-A8D1-468B-9DFE-62D3FE64DF4B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937E2AA-278D-0B48-A5DE-00B1FC5BDAF9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DE524E6-256B-444F-889B-C4E16C230803}" type="datetime1">
              <a:rPr lang="es-ES" noProof="0" smtClean="0"/>
              <a:t>20/02/2026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es-ES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C945262-380D-499B-9A2C-B768E51E74AC}" type="datetime1">
              <a:rPr lang="es-ES" noProof="0" smtClean="0"/>
              <a:t>20/02/2026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2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9E7B6F4F-BD40-49AE-8CDB-F85286DCBC25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8012F2-2208-4E0F-BD21-37216A73E577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ítulo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es-ES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5D619BB-44C9-414B-8224-FAB07D5430B6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0A4004B-EE33-447C-A7D1-B506C4EC528D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5ECCB5A-02F8-4443-8D49-35774A182830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B0A5D68-46DB-4085-AAF2-A56B60A4CCDB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icon to add table</a:t>
            </a:r>
            <a:endParaRPr lang="es-ES" noProof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E44B7D3-4E5F-4D2D-95A7-00CB23AE3693}" type="datetime1">
              <a:rPr lang="es-ES" noProof="0" smtClean="0"/>
              <a:t>20/02/2026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74304D8-B3C1-44E8-83A0-18D09C3315E3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n-US"/>
              <a:t>Click icon to add table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8B877DD-8742-486F-9DF2-6E05DD1B1915}" type="datetime1">
              <a:rPr lang="es-ES" smtClean="0"/>
              <a:t>20/02/2026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/>
            </a:lvl2pPr>
            <a:lvl3pPr marL="914400" indent="0" algn="ctr">
              <a:buNone/>
              <a:defRPr lang="es-ES"/>
            </a:lvl3pPr>
            <a:lvl4pPr marL="1371600" indent="0" algn="ctr">
              <a:buNone/>
              <a:defRPr lang="es-ES"/>
            </a:lvl4pPr>
            <a:lvl5pPr marL="1828800" indent="0" algn="ct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585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029776CB-D9FC-4A62-98FF-11EE2BA9AC6D}" type="datetime1">
              <a:rPr lang="es-ES" noProof="0" smtClean="0"/>
              <a:t>20/02/2026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  <p:sldLayoutId id="214748366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6DC-D91F-8943-7639-BEF514B4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236-2293-6251-DC1A-528D8F72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9533" y="1587195"/>
            <a:ext cx="7197726" cy="2421464"/>
          </a:xfrm>
        </p:spPr>
        <p:txBody>
          <a:bodyPr>
            <a:noAutofit/>
          </a:bodyPr>
          <a:lstStyle/>
          <a:p>
            <a:br>
              <a:rPr lang="es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 Implementación en FPGA de una arquitectura para la reconstrucción acelerada de imágenes de pMRI a partir de datos de k-espacio 	</a:t>
            </a:r>
            <a:b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CD90-D481-CA43-2AEC-CC1916CD1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78" y="3344235"/>
            <a:ext cx="4687627" cy="3128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6692B8-8DC6-B7BD-B72B-A90043237066}"/>
              </a:ext>
            </a:extLst>
          </p:cNvPr>
          <p:cNvSpPr txBox="1"/>
          <p:nvPr/>
        </p:nvSpPr>
        <p:spPr>
          <a:xfrm>
            <a:off x="5330229" y="628856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Weekly report: 20/02/2026 </a:t>
            </a:r>
            <a:endParaRPr lang="es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8022FF-9134-BFFB-2AD0-87CEEC567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3" y="318768"/>
            <a:ext cx="3735490" cy="2479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227C8D-88CD-375E-60E6-D13B01DE6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44" y="3617601"/>
            <a:ext cx="5046877" cy="232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9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BCD3-D968-168A-1470-47546574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E48F2DE-7A02-B87A-618B-6E0D03893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366244"/>
            <a:ext cx="4829175" cy="698173"/>
          </a:xfrm>
        </p:spPr>
        <p:txBody>
          <a:bodyPr>
            <a:normAutofit/>
          </a:bodyPr>
          <a:lstStyle/>
          <a:p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Phased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array coils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59C07-FC02-1E9A-5A3E-D1DB4C84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181098"/>
            <a:ext cx="5469435" cy="2333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A03A45-D8DD-15A0-C056-4B95FD82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533" y="1404759"/>
            <a:ext cx="6140192" cy="44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69B66-0FE4-1090-2C81-07DCA1C78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857624"/>
            <a:ext cx="5424103" cy="2333626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562359EF-E8E6-66E3-6370-2FA1EFBAC94C}"/>
              </a:ext>
            </a:extLst>
          </p:cNvPr>
          <p:cNvSpPr/>
          <p:nvPr/>
        </p:nvSpPr>
        <p:spPr>
          <a:xfrm rot="10800000">
            <a:off x="10850252" y="1064417"/>
            <a:ext cx="509575" cy="17918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A940B7-2FE4-6F04-023F-A8735A593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165" y="366244"/>
            <a:ext cx="2226560" cy="60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3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270F8DF-EB99-8385-4A0D-1115451EC405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0191C8-2D2A-81F9-B08B-989B6E72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66" y="4954022"/>
            <a:ext cx="6588822" cy="174670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20E140E-A2C9-9DEB-F36E-E174EA0AEF5A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Continuos Time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84B1AFA-A02D-DB68-A4F7-3762218BF050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85F2CA8-1A92-DF32-AFBA-259CB534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838" y="950213"/>
            <a:ext cx="5761524" cy="245198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3EE4E5-B897-E61F-D93A-725508D92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47" y="3635604"/>
            <a:ext cx="2898959" cy="10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B56-78E3-023A-3927-3BCE523B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A061B05C-B4AB-D7A0-35C0-4FFBA33C5EAE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82740FB-5DD7-BC4C-885E-7FEF8C2762A7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Discrete Time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64B5C5-485F-2736-BD3F-CE438841BF9A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ABFCE-0FC1-2F21-39DF-583C5A4E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83" y="4914690"/>
            <a:ext cx="8297433" cy="1705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14A6A-8893-42B0-A21B-3788E7A8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61" y="1175511"/>
            <a:ext cx="7754432" cy="1733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B05FB2-3C3E-3506-6D19-803D4ADFB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223" y="3362665"/>
            <a:ext cx="3147140" cy="117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7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F0B7-BF42-0FA9-CE3D-D7D1112A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A515D3-F919-37FF-1F3C-55B2E710980F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pre-scan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s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72A42-53FD-18B2-DF64-BCAC7F30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E502F-F013-03A0-D7AF-6568FB09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C37E5-140A-15E6-2B99-B03E7BF99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2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F29D-5BB6-4A02-0F7B-06F00ED3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3238-77E2-F2BD-8A07-EE5383EE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2240097"/>
            <a:ext cx="2030277" cy="593888"/>
          </a:xfrm>
        </p:spPr>
        <p:txBody>
          <a:bodyPr>
            <a:normAutofit fontScale="90000"/>
          </a:bodyPr>
          <a:lstStyle/>
          <a:p>
            <a:r>
              <a:rPr lang="es-US" sz="3600" dirty="0"/>
              <a:t>Raw data from coils</a:t>
            </a:r>
            <a:br>
              <a:rPr lang="es-US" sz="3600" dirty="0"/>
            </a:br>
            <a:r>
              <a:rPr lang="es-US" sz="3600" dirty="0"/>
              <a:t>k-</a:t>
            </a:r>
            <a:r>
              <a:rPr lang="es-US" sz="3600" dirty="0" err="1"/>
              <a:t>space</a:t>
            </a:r>
            <a:endParaRPr lang="es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3D2302-EBA3-FD60-9E24-41FE45F72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91" y="1055757"/>
            <a:ext cx="9474723" cy="2368681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1B93B1AA-9441-F276-FCDD-23C60ECA29EA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CAAD1-FD94-BD0B-5E86-3866E457A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4" y="4748554"/>
            <a:ext cx="9433096" cy="117913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1A1F1E2-9080-5835-3D9B-4A5453CDDF2C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dirty="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763EE6A-E7B1-E799-E5C4-E9785F2D4A9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If no undersampling applied: Af = 1</a:t>
            </a:r>
            <a:endParaRPr lang="es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52295E-5891-7BB2-2BFA-5BDF35DD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335" y="2920498"/>
            <a:ext cx="1593382" cy="5039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A4C95D-7F96-2F1A-33B9-EFDF33EF6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335" y="5595173"/>
            <a:ext cx="1445588" cy="4241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BF7E3E-43D8-27FD-C4A9-3879F909E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765" y="3846612"/>
            <a:ext cx="3240401" cy="47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53F0-4E0E-0ACB-0DA0-348479A3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B48BCC0-48CC-06EF-5E58-C78B20AB7FD1}"/>
              </a:ext>
            </a:extLst>
          </p:cNvPr>
          <p:cNvSpPr txBox="1">
            <a:spLocks/>
          </p:cNvSpPr>
          <p:nvPr/>
        </p:nvSpPr>
        <p:spPr>
          <a:xfrm>
            <a:off x="1545995" y="113122"/>
            <a:ext cx="8795209" cy="77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= 1: pixel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pixel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1219CA-34F8-703C-E00A-0104AAB917A6}"/>
              </a:ext>
            </a:extLst>
          </p:cNvPr>
          <p:cNvSpPr txBox="1">
            <a:spLocks/>
          </p:cNvSpPr>
          <p:nvPr/>
        </p:nvSpPr>
        <p:spPr>
          <a:xfrm>
            <a:off x="-403781" y="1055802"/>
            <a:ext cx="538113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Let’s</a:t>
            </a:r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 take one pixel, </a:t>
            </a:r>
            <a:r>
              <a:rPr lang="es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. (1,1)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19B3-AFCC-6592-6CE2-D7AA791F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85" y="1809945"/>
            <a:ext cx="6344721" cy="60350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63C862-70CF-9440-8740-CE1FF83142BB}"/>
              </a:ext>
            </a:extLst>
          </p:cNvPr>
          <p:cNvSpPr txBox="1">
            <a:spLocks/>
          </p:cNvSpPr>
          <p:nvPr/>
        </p:nvSpPr>
        <p:spPr>
          <a:xfrm>
            <a:off x="226242" y="2941159"/>
            <a:ext cx="2754199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Vector notation: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B580DD-222D-AD2B-A2DD-50EB76919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3714345"/>
            <a:ext cx="6237102" cy="139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244CE8-4F32-2196-6F7E-31EDE81C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827" y="5522632"/>
            <a:ext cx="4544059" cy="733527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B18416F-1ACF-3D4C-27F4-52BCBD10280E}"/>
              </a:ext>
            </a:extLst>
          </p:cNvPr>
          <p:cNvSpPr txBox="1">
            <a:spLocks/>
          </p:cNvSpPr>
          <p:nvPr/>
        </p:nvSpPr>
        <p:spPr>
          <a:xfrm>
            <a:off x="6956980" y="1715770"/>
            <a:ext cx="452015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(noise is ignored for simplicity)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7EF826-22B4-D0AE-7CC0-B4842E6DC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915" y="3267747"/>
            <a:ext cx="4660779" cy="11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7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3527-EA10-7FF3-BB62-5967D390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6D0E98E-E4BF-588D-333A-F7DD708F4B57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= 1: least-squares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50A8CF-C588-9DD4-FAF2-640F9AD9D0B7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minimizes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error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data and the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5638A7-25D7-4044-DACA-79BC71DC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575" y="2765463"/>
            <a:ext cx="2343477" cy="86689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0967FD0-8412-DA92-16B5-7C45527A70F5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1171B13-5D05-F94A-6DB1-F9DF582BFCEC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D4D86AD-E1CD-70F3-3D4E-08DBDF9FAB9F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B7E104-3C4C-9F97-20A1-9C4E257EF829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1EC629-DDA1-4F61-F93D-D668E1990A53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problem,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01440AF-585F-3091-0C06-A2F1A8E08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019" y="5422167"/>
            <a:ext cx="4016335" cy="6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1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32E-B974-944E-7E58-4B857843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706EC4A-C3DD-79FD-EC20-40D53993E282}"/>
              </a:ext>
            </a:extLst>
          </p:cNvPr>
          <p:cNvSpPr txBox="1">
            <a:spLocks/>
          </p:cNvSpPr>
          <p:nvPr/>
        </p:nvSpPr>
        <p:spPr>
          <a:xfrm>
            <a:off x="0" y="102779"/>
            <a:ext cx="10096107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= 1: Moore-Penrose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pesudoinverse</a:t>
            </a:r>
            <a:endParaRPr lang="es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DA9284-CAB3-774D-8CAB-1806063C8936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well-known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problem and can be resolved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Moore-Penrose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pseudoinverse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E357F-63A9-F8E8-AFE2-204AD33F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33" y="2176008"/>
            <a:ext cx="4143663" cy="11755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C0549E-D9C8-CB19-0CDE-98625632FB1B}"/>
              </a:ext>
            </a:extLst>
          </p:cNvPr>
          <p:cNvSpPr txBox="1">
            <a:spLocks/>
          </p:cNvSpPr>
          <p:nvPr/>
        </p:nvSpPr>
        <p:spPr>
          <a:xfrm>
            <a:off x="169683" y="3351574"/>
            <a:ext cx="10737130" cy="5544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Decomposed</a:t>
            </a:r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2F159-FE3B-7D33-D35E-3F47E205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97" y="5328406"/>
            <a:ext cx="4926833" cy="11351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35FF6C-5941-2D2A-E9D4-8BD3B2624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7" y="4108107"/>
            <a:ext cx="5730088" cy="1018682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841F42A3-A542-DB18-1DAC-DCA3FF9372FC}"/>
              </a:ext>
            </a:extLst>
          </p:cNvPr>
          <p:cNvSpPr/>
          <p:nvPr/>
        </p:nvSpPr>
        <p:spPr>
          <a:xfrm>
            <a:off x="6303391" y="4974033"/>
            <a:ext cx="1275761" cy="554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EB2C55-2F60-90B2-E165-8E5FB8BCA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558" y="4381972"/>
            <a:ext cx="3770052" cy="17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8181-8E94-04D9-26E4-7E49B13B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398D-B1F0-CA00-69D6-37FAAA9E1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1272619"/>
            <a:ext cx="2030277" cy="1561366"/>
          </a:xfrm>
        </p:spPr>
        <p:txBody>
          <a:bodyPr>
            <a:normAutofit fontScale="90000"/>
          </a:bodyPr>
          <a:lstStyle/>
          <a:p>
            <a:r>
              <a:rPr lang="es-US" sz="3600" dirty="0"/>
              <a:t>Raw data from coils</a:t>
            </a:r>
            <a:br>
              <a:rPr lang="es-US" sz="3600" dirty="0"/>
            </a:br>
            <a:r>
              <a:rPr lang="es-US" sz="3600" dirty="0"/>
              <a:t>k-</a:t>
            </a:r>
            <a:r>
              <a:rPr lang="es-US" sz="3600" dirty="0" err="1"/>
              <a:t>space</a:t>
            </a:r>
            <a:endParaRPr lang="es-US" sz="36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2DA1F06-4B70-1B7B-BA83-02E04BCBDA28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1B579E9-E355-8268-0D40-690E3EA3807E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dirty="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09F4FB1-844E-B9AF-D77A-183E07A34A6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Undersampling applied: Af =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7318D4-E052-71AD-1EB1-45F3DE87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335" y="2920498"/>
            <a:ext cx="1593382" cy="5039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8C4A96-97A1-83E8-8528-4C51D3D7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335" y="5595173"/>
            <a:ext cx="1445588" cy="4241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F82A133-D4DE-00B8-C541-D615E9DE5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765" y="3846612"/>
            <a:ext cx="3240401" cy="47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6F31E-1BFF-5D02-4943-8A77ADF7D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94" y="1003835"/>
            <a:ext cx="8844883" cy="2211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A3A1A-7B16-A076-5B3C-F4C651BDC3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58" y="4804975"/>
            <a:ext cx="9232554" cy="1154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/>
              <p:nvPr/>
            </p:nvSpPr>
            <p:spPr>
              <a:xfrm>
                <a:off x="283860" y="3368016"/>
                <a:ext cx="4033616" cy="1244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dirty="0">
                    <a:latin typeface="Arial" panose="020B0604020202020204" pitchFamily="34" charset="0"/>
                    <a:cs typeface="Arial" panose="020B0604020202020204" pitchFamily="34" charset="0"/>
                  </a:rPr>
                  <a:t>Undersampling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 dirty="0">
                    <a:latin typeface="Arial" panose="020B0604020202020204" pitchFamily="34" charset="0"/>
                    <a:cs typeface="Arial" panose="020B0604020202020204" pitchFamily="34" charset="0"/>
                  </a:rPr>
                  <a:t> (acceleration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US" dirty="0">
                    <a:latin typeface="Arial" panose="020B0604020202020204" pitchFamily="34" charset="0"/>
                    <a:cs typeface="Arial" panose="020B0604020202020204" pitchFamily="34" charset="0"/>
                  </a:rPr>
                  <a:t> causes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US" dirty="0">
                    <a:latin typeface="Arial" panose="020B0604020202020204" pitchFamily="34" charset="0"/>
                    <a:cs typeface="Arial" panose="020B0604020202020204" pitchFamily="34" charset="0"/>
                  </a:rPr>
                  <a:t> pixels of the full-FOV image to fold into one aliased pixel in each coil image.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60" y="3368016"/>
                <a:ext cx="4033616" cy="1244508"/>
              </a:xfrm>
              <a:prstGeom prst="rect">
                <a:avLst/>
              </a:prstGeom>
              <a:blipFill>
                <a:blip r:embed="rId7"/>
                <a:stretch>
                  <a:fillRect l="-1362" t="-2439" r="-151" b="-682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9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D777-D440-3917-3ABE-309EA467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415B31E-2A1F-F40E-DBF5-105E50578D98}"/>
              </a:ext>
            </a:extLst>
          </p:cNvPr>
          <p:cNvSpPr txBox="1">
            <a:spLocks/>
          </p:cNvSpPr>
          <p:nvPr/>
        </p:nvSpPr>
        <p:spPr>
          <a:xfrm>
            <a:off x="1242963" y="275362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sensitvity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maps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ADDD7-1288-7416-6A47-99ACCD88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FB554-CED9-4B11-8B9B-672EA5134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7FB02D-F582-1C86-BF25-B3E59148D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1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CC78-440D-FB88-B339-9EDECA62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BE4CBDF-8161-B892-BF46-6EF43DE46A97}"/>
              </a:ext>
            </a:extLst>
          </p:cNvPr>
          <p:cNvSpPr txBox="1">
            <a:spLocks/>
          </p:cNvSpPr>
          <p:nvPr/>
        </p:nvSpPr>
        <p:spPr>
          <a:xfrm>
            <a:off x="226243" y="113122"/>
            <a:ext cx="11250890" cy="942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&gt; 1: now we gotta scale with aliasing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825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Let’s take one folded pixel, </a:t>
                </a:r>
                <a:r>
                  <a:rPr lang="es-US" sz="2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s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s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  <m:sup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𝒂𝒍𝒊𝒂𝒔</m:t>
                        </m:r>
                      </m:sup>
                    </m:sSubSup>
                  </m:oMath>
                </a14:m>
                <a:r>
                  <a:rPr lang="es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(Will asume undersampling in the y direction)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  <a:blipFill>
                <a:blip r:embed="rId2"/>
                <a:stretch>
                  <a:fillRect r="-524" b="-1354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127DB14-7B54-D70B-FAA0-6E3344372C5B}"/>
              </a:ext>
            </a:extLst>
          </p:cNvPr>
          <p:cNvSpPr txBox="1">
            <a:spLocks/>
          </p:cNvSpPr>
          <p:nvPr/>
        </p:nvSpPr>
        <p:spPr>
          <a:xfrm>
            <a:off x="-193273" y="2538869"/>
            <a:ext cx="2754199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Matrix notation: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5816D9-455E-F766-0767-4E5F61ADB73B}"/>
              </a:ext>
            </a:extLst>
          </p:cNvPr>
          <p:cNvSpPr txBox="1">
            <a:spLocks/>
          </p:cNvSpPr>
          <p:nvPr/>
        </p:nvSpPr>
        <p:spPr>
          <a:xfrm>
            <a:off x="8352147" y="1812981"/>
            <a:ext cx="288460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1400" b="1" dirty="0">
                <a:latin typeface="Arial" panose="020B0604020202020204" pitchFamily="34" charset="0"/>
                <a:cs typeface="Arial" panose="020B0604020202020204" pitchFamily="34" charset="0"/>
              </a:rPr>
              <a:t>(again, noise is ignored for simplicity)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361E6-EB29-2565-8FAF-53275E42E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1779733"/>
            <a:ext cx="7935432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2B246-D52D-FCB0-B8FF-8D48F5AD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398" y="2837468"/>
            <a:ext cx="7041820" cy="384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6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B295-FC34-7A84-B394-D9DEB83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4DCE37-0B35-77C1-A2FC-D7A5113F6D5A}"/>
              </a:ext>
            </a:extLst>
          </p:cNvPr>
          <p:cNvSpPr txBox="1">
            <a:spLocks/>
          </p:cNvSpPr>
          <p:nvPr/>
        </p:nvSpPr>
        <p:spPr>
          <a:xfrm>
            <a:off x="226242" y="-141401"/>
            <a:ext cx="10487320" cy="13008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&gt; 1: now we use matrices </a:t>
            </a:r>
            <a:r>
              <a:rPr lang="es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 of vectors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22CEA3-8FAA-47AA-BDF6-E7F7ADE183D8}"/>
              </a:ext>
            </a:extLst>
          </p:cNvPr>
          <p:cNvSpPr txBox="1">
            <a:spLocks/>
          </p:cNvSpPr>
          <p:nvPr/>
        </p:nvSpPr>
        <p:spPr>
          <a:xfrm>
            <a:off x="1842620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With Af = 1: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D5BC0B-9AB1-A1DE-5ED3-B10D9C1F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98" y="3521968"/>
            <a:ext cx="4660779" cy="1146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ABBB0-DC02-A30C-0C8B-29401E21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620" y="2480141"/>
            <a:ext cx="1934338" cy="7155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2C0AFE-BA50-1E10-1593-ABE0EC3864C2}"/>
              </a:ext>
            </a:extLst>
          </p:cNvPr>
          <p:cNvSpPr txBox="1">
            <a:spLocks/>
          </p:cNvSpPr>
          <p:nvPr/>
        </p:nvSpPr>
        <p:spPr>
          <a:xfrm>
            <a:off x="8041452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 dirty="0">
                <a:latin typeface="Arial" panose="020B0604020202020204" pitchFamily="34" charset="0"/>
                <a:cs typeface="Arial" panose="020B0604020202020204" pitchFamily="34" charset="0"/>
              </a:rPr>
              <a:t>With Af &gt; 1: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458E6-B582-D58F-78F3-5521198D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094" y="5620838"/>
            <a:ext cx="5820587" cy="800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5C3144-606C-9FD2-0D41-05B1E58DE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27" y="5620838"/>
            <a:ext cx="4458322" cy="533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2DEAD3-9744-39F3-8CD4-A28231329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669" y="2480140"/>
            <a:ext cx="2464656" cy="8002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93337D-F265-1A25-7E53-AD9181596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34" y="3690894"/>
            <a:ext cx="5602726" cy="10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3F96-ED00-1A76-4E6B-2E372B2B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CDCFF7D-6345-A714-AC22-F49469E327C6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SENSE with Af &gt; 1: least-squares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 want to estimate the vector </a:t>
                </a:r>
                <a14:m>
                  <m:oMath xmlns:m="http://schemas.openxmlformats.org/officeDocument/2006/math"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</m:t>
                    </m:r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that best explains the measured data</a:t>
                </a:r>
                <a:r>
                  <a:rPr lang="es-US" sz="2800" b="1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This leads again to a least-squares problem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  <a:blipFill>
                <a:blip r:embed="rId2"/>
                <a:stretch>
                  <a:fillRect l="-1079" b="-1013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21C451B6-F26A-3B8B-9359-D533119A1D2E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A55EBC-4E67-D140-002B-7B2763C09CAD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977A16-B7FC-FF9A-5D2D-A18D202B6F81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D755260-0B31-D0C8-4DC5-87559390C84F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CA77AF-AC50-BC68-37A2-F01FF46F398B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dirty="0">
                <a:latin typeface="Arial" panose="020B0604020202020204" pitchFamily="34" charset="0"/>
                <a:cs typeface="Arial" panose="020B0604020202020204" pitchFamily="34" charset="0"/>
              </a:rPr>
              <a:t>Again, this leads to: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ADC83-C92F-0C05-EED8-E00532A9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78" y="2614065"/>
            <a:ext cx="2464656" cy="80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93B70-511F-2FB1-DBCA-B3AF1AB52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91" y="5191859"/>
            <a:ext cx="5158887" cy="1144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B8B6E-42F6-93EF-A554-6B76B8EFD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913" y="5049434"/>
            <a:ext cx="1896934" cy="4720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DFFD09-C93B-10DA-430D-C4DB1DD84255}"/>
              </a:ext>
            </a:extLst>
          </p:cNvPr>
          <p:cNvSpPr txBox="1">
            <a:spLocks/>
          </p:cNvSpPr>
          <p:nvPr/>
        </p:nvSpPr>
        <p:spPr>
          <a:xfrm>
            <a:off x="9503397" y="4200511"/>
            <a:ext cx="4183144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Note that now: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93265A-F300-0D68-DD7C-4D26F0D73036}"/>
              </a:ext>
            </a:extLst>
          </p:cNvPr>
          <p:cNvSpPr txBox="1">
            <a:spLocks/>
          </p:cNvSpPr>
          <p:nvPr/>
        </p:nvSpPr>
        <p:spPr>
          <a:xfrm>
            <a:off x="9147143" y="5757739"/>
            <a:ext cx="2949018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This means we can use Cholesky, LU decomposition, gauss elimination, etc</a:t>
            </a:r>
          </a:p>
        </p:txBody>
      </p:sp>
    </p:spTree>
    <p:extLst>
      <p:ext uri="{BB962C8B-B14F-4D97-AF65-F5344CB8AC3E}">
        <p14:creationId xmlns:p14="http://schemas.microsoft.com/office/powerpoint/2010/main" val="297598366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4_TF10081922_Win32" id="{844886B3-BF47-497B-B4FE-2EF751E8CA35}" vid="{A6C54B32-D796-482B-83D4-8010EA1494B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{C3BCA008-1D6C-405B-BEBF-3FC2C131580D}tf10081922_win32</Template>
  <TotalTime>339</TotalTime>
  <Words>337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Cambria Math</vt:lpstr>
      <vt:lpstr>Quire Sans Pro Light</vt:lpstr>
      <vt:lpstr>Tisa Offc Serif Pro</vt:lpstr>
      <vt:lpstr>Personalizar</vt:lpstr>
      <vt:lpstr>  Implementación en FPGA de una arquitectura para la reconstrucción acelerada de imágenes de pMRI a partir de datos de k-espacio   </vt:lpstr>
      <vt:lpstr>Phased array coils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font</dc:creator>
  <cp:lastModifiedBy>julian font</cp:lastModifiedBy>
  <cp:revision>5</cp:revision>
  <dcterms:created xsi:type="dcterms:W3CDTF">2026-02-19T23:37:01Z</dcterms:created>
  <dcterms:modified xsi:type="dcterms:W3CDTF">2026-02-20T11:55:37Z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