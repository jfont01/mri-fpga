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3"/>
  </p:notesMasterIdLst>
  <p:handoutMasterIdLst>
    <p:handoutMasterId r:id="rId54"/>
  </p:handoutMasterIdLst>
  <p:sldIdLst>
    <p:sldId id="288" r:id="rId5"/>
    <p:sldId id="290" r:id="rId6"/>
    <p:sldId id="256" r:id="rId7"/>
    <p:sldId id="291" r:id="rId8"/>
    <p:sldId id="293" r:id="rId9"/>
    <p:sldId id="289" r:id="rId10"/>
    <p:sldId id="292" r:id="rId11"/>
    <p:sldId id="294" r:id="rId12"/>
    <p:sldId id="295" r:id="rId13"/>
    <p:sldId id="296" r:id="rId14"/>
    <p:sldId id="297" r:id="rId15"/>
    <p:sldId id="299" r:id="rId16"/>
    <p:sldId id="298" r:id="rId17"/>
    <p:sldId id="300" r:id="rId18"/>
    <p:sldId id="301" r:id="rId19"/>
    <p:sldId id="303" r:id="rId20"/>
    <p:sldId id="304" r:id="rId21"/>
    <p:sldId id="305" r:id="rId22"/>
    <p:sldId id="302" r:id="rId23"/>
    <p:sldId id="307" r:id="rId24"/>
    <p:sldId id="309" r:id="rId25"/>
    <p:sldId id="310" r:id="rId26"/>
    <p:sldId id="311" r:id="rId27"/>
    <p:sldId id="308" r:id="rId28"/>
    <p:sldId id="313" r:id="rId29"/>
    <p:sldId id="314" r:id="rId30"/>
    <p:sldId id="315" r:id="rId31"/>
    <p:sldId id="312" r:id="rId32"/>
    <p:sldId id="316" r:id="rId33"/>
    <p:sldId id="317" r:id="rId34"/>
    <p:sldId id="318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336" r:id="rId45"/>
    <p:sldId id="319" r:id="rId46"/>
    <p:sldId id="321" r:id="rId47"/>
    <p:sldId id="322" r:id="rId48"/>
    <p:sldId id="323" r:id="rId49"/>
    <p:sldId id="324" r:id="rId50"/>
    <p:sldId id="326" r:id="rId51"/>
    <p:sldId id="325" r:id="rId52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86" autoAdjust="0"/>
    <p:restoredTop sz="85448" autoAdjust="0"/>
  </p:normalViewPr>
  <p:slideViewPr>
    <p:cSldViewPr snapToGrid="0">
      <p:cViewPr varScale="1">
        <p:scale>
          <a:sx n="92" d="100"/>
          <a:sy n="92" d="100"/>
        </p:scale>
        <p:origin x="132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2" d="100"/>
          <a:sy n="92" d="100"/>
        </p:scale>
        <p:origin x="3732" y="3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CE7C3759-1457-46FB-8F72-9FC969C2E29E}" type="datetime1">
              <a:rPr lang="es-ES" smtClean="0"/>
              <a:t>02/04/2026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F757874-EF65-4B61-B062-40C932C8129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7D9B200B-A8D1-468B-9DFE-62D3FE64DF4B}" type="datetime1">
              <a:rPr lang="es-ES" smtClean="0"/>
              <a:t>02/04/2026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6937E2AA-278D-0B48-A5DE-00B1FC5BDAF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937E2AA-278D-0B48-A5DE-00B1FC5BDAF9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61094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937E2AA-278D-0B48-A5DE-00B1FC5BDAF9}" type="slidenum">
              <a:rPr lang="es-ES" noProof="0" smtClean="0"/>
              <a:t>19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02334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937E2AA-278D-0B48-A5DE-00B1FC5BDAF9}" type="slidenum">
              <a:rPr lang="es-ES" noProof="0" smtClean="0"/>
              <a:t>29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45853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937E2AA-278D-0B48-A5DE-00B1FC5BDAF9}" type="slidenum">
              <a:rPr lang="es-ES" noProof="0" smtClean="0"/>
              <a:t>41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52244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imagen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rtlCol="0" anchor="ctr" anchorCtr="0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rtlCol="0" anchor="t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lang="es-ES" sz="2400"/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2000"/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800"/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600"/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es-ES" sz="16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DE524E6-256B-444F-889B-C4E16C230803}" type="datetime1">
              <a:rPr lang="es-ES" noProof="0" smtClean="0"/>
              <a:t>02/04/2026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rtlCol="0" anchor="ctr">
            <a:noAutofit/>
          </a:bodyPr>
          <a:lstStyle>
            <a:lvl1pPr algn="ctr">
              <a:defRPr lang="es-ES" sz="44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 rtlCol="0"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lang="es-ES" sz="200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n-US" noProof="0"/>
              <a:t>Click icon to add picture</a:t>
            </a:r>
            <a:endParaRPr lang="es-ES" noProof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C945262-380D-499B-9A2C-B768E51E74AC}" type="datetime1">
              <a:rPr lang="es-ES" noProof="0" smtClean="0"/>
              <a:t>02/04/2026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rtlCol="0" anchor="b">
            <a:noAutofit/>
          </a:bodyPr>
          <a:lstStyle>
            <a:lvl1pPr algn="l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 rtlCol="0">
            <a:noAutofit/>
          </a:bodyPr>
          <a:lstStyle>
            <a:lvl1pPr marL="0" indent="0" algn="l">
              <a:buNone/>
              <a:defRPr lang="es-ES" sz="2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29545" y="1148037"/>
            <a:ext cx="4365199" cy="4546707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9E7B6F4F-BD40-49AE-8CDB-F85286DCBC25}" type="datetime1">
              <a:rPr lang="es-ES" smtClean="0"/>
              <a:t>02/04/2026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8012F2-2208-4E0F-BD21-37216A73E577}" type="datetime1">
              <a:rPr lang="es-ES" smtClean="0"/>
              <a:t>02/04/2026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Título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 rtlCol="0"/>
          <a:lstStyle>
            <a:lvl1pPr marL="0" indent="0">
              <a:buNone/>
              <a:defRPr lang="es-ES"/>
            </a:lvl1pPr>
            <a:lvl2pPr marL="457200" indent="0">
              <a:buNone/>
              <a:defRPr lang="es-ES"/>
            </a:lvl2pPr>
            <a:lvl3pPr marL="914400" indent="0">
              <a:buNone/>
              <a:defRPr lang="es-ES"/>
            </a:lvl3pPr>
            <a:lvl4pPr marL="1371600" indent="0">
              <a:buNone/>
              <a:defRPr lang="es-ES"/>
            </a:lvl4pPr>
            <a:lvl5pPr marL="1828800" indent="0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45D619BB-44C9-414B-8224-FAB07D5430B6}" type="datetime1">
              <a:rPr lang="es-ES" smtClean="0"/>
              <a:t>02/04/2026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0A4004B-EE33-447C-A7D1-B506C4EC528D}" type="datetime1">
              <a:rPr lang="es-ES" smtClean="0"/>
              <a:t>02/04/2026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5ECCB5A-02F8-4443-8D49-35774A182830}" type="datetime1">
              <a:rPr lang="es-ES" smtClean="0"/>
              <a:t>02/04/2026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es-ES" sz="1800"/>
            </a:lvl1pPr>
            <a:lvl2pPr marL="2286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6858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1430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16002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rtlCol="0" anchor="b">
            <a:noAutofit/>
          </a:bodyPr>
          <a:lstStyle>
            <a:lvl1pPr algn="l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 rtlCol="0">
            <a:noAutofit/>
          </a:bodyPr>
          <a:lstStyle>
            <a:lvl1pPr marL="0" indent="0" algn="l">
              <a:spcAft>
                <a:spcPts val="1000"/>
              </a:spcAft>
              <a:buNone/>
              <a:defRPr lang="es-ES" sz="1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8563" y="1146638"/>
            <a:ext cx="4389120" cy="4572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6B0A5D68-46DB-4085-AAF2-A56B60A4CCDB}" type="datetime1">
              <a:rPr lang="es-ES" smtClean="0"/>
              <a:t>02/04/2026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imagen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rtlCol="0" anchor="ctr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 noProof="0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lang="es-ES" sz="1800"/>
            </a:lvl5pPr>
          </a:lstStyle>
          <a:p>
            <a:pPr lvl="0" rtl="0"/>
            <a:r>
              <a:rPr lang="es-ES" noProof="0"/>
              <a:t>Haga clic para agregar contenido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502552" y="1779325"/>
            <a:ext cx="6724891" cy="429768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n-US" noProof="0"/>
              <a:t>Click icon to add table</a:t>
            </a:r>
            <a:endParaRPr lang="es-ES" noProof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8E44B7D3-4E5F-4D2D-95A7-00CB23AE3693}" type="datetime1">
              <a:rPr lang="es-ES" noProof="0" smtClean="0"/>
              <a:t>02/04/2026</a:t>
            </a:fld>
            <a:endParaRPr lang="es-ES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posición de imagen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rtlCol="0" anchor="b" anchorCtr="0">
            <a:noAutofit/>
          </a:bodyPr>
          <a:lstStyle>
            <a:lvl1pPr algn="ctr"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es-ES" sz="1800"/>
            </a:lvl1pPr>
            <a:lvl2pPr marL="685800">
              <a:spcBef>
                <a:spcPts val="600"/>
              </a:spcBef>
              <a:spcAft>
                <a:spcPts val="600"/>
              </a:spcAft>
              <a:defRPr lang="es-ES" sz="1800"/>
            </a:lvl2pPr>
            <a:lvl3pPr marL="1143000">
              <a:spcBef>
                <a:spcPts val="600"/>
              </a:spcBef>
              <a:spcAft>
                <a:spcPts val="600"/>
              </a:spcAft>
              <a:defRPr lang="es-ES" sz="1800"/>
            </a:lvl3pPr>
            <a:lvl4pPr marL="1600200">
              <a:spcBef>
                <a:spcPts val="600"/>
              </a:spcBef>
              <a:spcAft>
                <a:spcPts val="600"/>
              </a:spcAft>
              <a:defRPr lang="es-ES" sz="1800"/>
            </a:lvl4pPr>
            <a:lvl5pPr marL="2057400">
              <a:spcBef>
                <a:spcPts val="60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74304D8-B3C1-44E8-83A0-18D09C3315E3}" type="datetime1">
              <a:rPr lang="es-ES" smtClean="0"/>
              <a:t>02/04/2026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rtlCol="0" anchor="b" anchorCtr="0">
            <a:noAutofit/>
          </a:bodyPr>
          <a:lstStyle>
            <a:lvl1pPr>
              <a:defRPr lang="es-ES" sz="36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79325"/>
            <a:ext cx="10361676" cy="4297680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n-US"/>
              <a:t>Click icon to add table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38B877DD-8742-486F-9DF2-6E05DD1B1915}" type="datetime1">
              <a:rPr lang="es-ES" smtClean="0"/>
              <a:t>02/04/2026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CBD12358-51D2-46B3-9BDE-DF29528B9454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arcador de posición de imagen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rtlCol="0" anchor="b">
            <a:noAutofit/>
          </a:bodyPr>
          <a:lstStyle>
            <a:lvl1pPr algn="ctr">
              <a:defRPr lang="es-ES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1800"/>
            </a:lvl1pPr>
            <a:lvl2pPr marL="457200" indent="0" algn="ctr">
              <a:buNone/>
              <a:defRPr lang="es-ES"/>
            </a:lvl2pPr>
            <a:lvl3pPr marL="914400" indent="0" algn="ctr">
              <a:buNone/>
              <a:defRPr lang="es-ES"/>
            </a:lvl3pPr>
            <a:lvl4pPr marL="1371600" indent="0" algn="ctr">
              <a:buNone/>
              <a:defRPr lang="es-ES"/>
            </a:lvl4pPr>
            <a:lvl5pPr marL="1828800" indent="0" algn="ctr">
              <a:buNone/>
              <a:defRPr lang="es-ES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85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029776CB-D9FC-4A62-98FF-11EE2BA9AC6D}" type="datetime1">
              <a:rPr lang="es-ES" noProof="0" smtClean="0"/>
              <a:t>02/04/2026</a:t>
            </a:fld>
            <a:endParaRPr lang="es-ES" noProof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rtl="0"/>
            <a:fld id="{CBD12358-51D2-46B3-9BDE-DF29528B9454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  <p:sldLayoutId id="2147483667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2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8.png"/><Relationship Id="rId5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5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90.png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66.png"/><Relationship Id="rId7" Type="http://schemas.openxmlformats.org/officeDocument/2006/relationships/image" Target="../media/image61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74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0.png"/><Relationship Id="rId18" Type="http://schemas.openxmlformats.org/officeDocument/2006/relationships/image" Target="../media/image1260.png"/><Relationship Id="rId21" Type="http://schemas.openxmlformats.org/officeDocument/2006/relationships/image" Target="../media/image137.png"/><Relationship Id="rId12" Type="http://schemas.openxmlformats.org/officeDocument/2006/relationships/image" Target="../media/image1200.png"/><Relationship Id="rId17" Type="http://schemas.openxmlformats.org/officeDocument/2006/relationships/image" Target="../media/image1250.png"/><Relationship Id="rId25" Type="http://schemas.openxmlformats.org/officeDocument/2006/relationships/image" Target="../media/image141.png"/><Relationship Id="rId16" Type="http://schemas.openxmlformats.org/officeDocument/2006/relationships/image" Target="../media/image1240.png"/><Relationship Id="rId20" Type="http://schemas.openxmlformats.org/officeDocument/2006/relationships/image" Target="../media/image128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40.png"/><Relationship Id="rId24" Type="http://schemas.openxmlformats.org/officeDocument/2006/relationships/image" Target="../media/image140.png"/><Relationship Id="rId5" Type="http://schemas.openxmlformats.org/officeDocument/2006/relationships/image" Target="../media/image1130.png"/><Relationship Id="rId15" Type="http://schemas.openxmlformats.org/officeDocument/2006/relationships/image" Target="../media/image1100.png"/><Relationship Id="rId23" Type="http://schemas.openxmlformats.org/officeDocument/2006/relationships/image" Target="../media/image139.png"/><Relationship Id="rId19" Type="http://schemas.openxmlformats.org/officeDocument/2006/relationships/image" Target="../media/image1270.png"/><Relationship Id="rId4" Type="http://schemas.openxmlformats.org/officeDocument/2006/relationships/image" Target="../media/image1120.png"/><Relationship Id="rId14" Type="http://schemas.openxmlformats.org/officeDocument/2006/relationships/image" Target="../media/image1220.png"/><Relationship Id="rId22" Type="http://schemas.openxmlformats.org/officeDocument/2006/relationships/image" Target="../media/image138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0.png"/><Relationship Id="rId13" Type="http://schemas.openxmlformats.org/officeDocument/2006/relationships/image" Target="../media/image145.png"/><Relationship Id="rId7" Type="http://schemas.openxmlformats.org/officeDocument/2006/relationships/image" Target="../media/image1350.png"/><Relationship Id="rId12" Type="http://schemas.openxmlformats.org/officeDocument/2006/relationships/image" Target="../media/image144.png"/><Relationship Id="rId2" Type="http://schemas.openxmlformats.org/officeDocument/2006/relationships/image" Target="../media/image1300.png"/><Relationship Id="rId1" Type="http://schemas.openxmlformats.org/officeDocument/2006/relationships/slideLayout" Target="../slideLayouts/slideLayout14.xml"/><Relationship Id="rId11" Type="http://schemas.openxmlformats.org/officeDocument/2006/relationships/image" Target="../media/image143.png"/><Relationship Id="rId10" Type="http://schemas.openxmlformats.org/officeDocument/2006/relationships/image" Target="../media/image142.png"/><Relationship Id="rId9" Type="http://schemas.openxmlformats.org/officeDocument/2006/relationships/image" Target="../media/image137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0.png"/><Relationship Id="rId13" Type="http://schemas.openxmlformats.org/officeDocument/2006/relationships/image" Target="../media/image1411.png"/><Relationship Id="rId18" Type="http://schemas.openxmlformats.org/officeDocument/2006/relationships/image" Target="../media/image151.png"/><Relationship Id="rId3" Type="http://schemas.openxmlformats.org/officeDocument/2006/relationships/image" Target="../media/image1310.png"/><Relationship Id="rId21" Type="http://schemas.openxmlformats.org/officeDocument/2006/relationships/image" Target="../media/image154.png"/><Relationship Id="rId7" Type="http://schemas.openxmlformats.org/officeDocument/2006/relationships/image" Target="../media/image1340.png"/><Relationship Id="rId12" Type="http://schemas.openxmlformats.org/officeDocument/2006/relationships/image" Target="../media/image1401.png"/><Relationship Id="rId17" Type="http://schemas.openxmlformats.org/officeDocument/2006/relationships/image" Target="../media/image150.png"/><Relationship Id="rId2" Type="http://schemas.openxmlformats.org/officeDocument/2006/relationships/image" Target="../media/image1290.png"/><Relationship Id="rId16" Type="http://schemas.openxmlformats.org/officeDocument/2006/relationships/image" Target="../media/image149.png"/><Relationship Id="rId20" Type="http://schemas.openxmlformats.org/officeDocument/2006/relationships/image" Target="../media/image15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20.png"/><Relationship Id="rId11" Type="http://schemas.openxmlformats.org/officeDocument/2006/relationships/image" Target="../media/image1391.png"/><Relationship Id="rId5" Type="http://schemas.openxmlformats.org/officeDocument/2006/relationships/image" Target="../media/image1330.png"/><Relationship Id="rId15" Type="http://schemas.openxmlformats.org/officeDocument/2006/relationships/image" Target="../media/image148.png"/><Relationship Id="rId10" Type="http://schemas.openxmlformats.org/officeDocument/2006/relationships/image" Target="../media/image146.png"/><Relationship Id="rId19" Type="http://schemas.openxmlformats.org/officeDocument/2006/relationships/image" Target="../media/image152.png"/><Relationship Id="rId4" Type="http://schemas.openxmlformats.org/officeDocument/2006/relationships/image" Target="../media/image1320.png"/><Relationship Id="rId9" Type="http://schemas.openxmlformats.org/officeDocument/2006/relationships/image" Target="../media/image1381.png"/><Relationship Id="rId14" Type="http://schemas.openxmlformats.org/officeDocument/2006/relationships/image" Target="../media/image14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0.png"/><Relationship Id="rId13" Type="http://schemas.openxmlformats.org/officeDocument/2006/relationships/image" Target="../media/image158.png"/><Relationship Id="rId18" Type="http://schemas.openxmlformats.org/officeDocument/2006/relationships/image" Target="../media/image162.png"/><Relationship Id="rId3" Type="http://schemas.openxmlformats.org/officeDocument/2006/relationships/image" Target="../media/image1380.png"/><Relationship Id="rId21" Type="http://schemas.openxmlformats.org/officeDocument/2006/relationships/image" Target="../media/image165.png"/><Relationship Id="rId7" Type="http://schemas.openxmlformats.org/officeDocument/2006/relationships/image" Target="../media/image1420.png"/><Relationship Id="rId12" Type="http://schemas.openxmlformats.org/officeDocument/2006/relationships/image" Target="../media/image157.png"/><Relationship Id="rId17" Type="http://schemas.openxmlformats.org/officeDocument/2006/relationships/image" Target="../media/image161.png"/><Relationship Id="rId2" Type="http://schemas.openxmlformats.org/officeDocument/2006/relationships/image" Target="../media/image155.png"/><Relationship Id="rId16" Type="http://schemas.openxmlformats.org/officeDocument/2006/relationships/image" Target="../media/image160.png"/><Relationship Id="rId20" Type="http://schemas.openxmlformats.org/officeDocument/2006/relationships/image" Target="../media/image16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10.png"/><Relationship Id="rId11" Type="http://schemas.openxmlformats.org/officeDocument/2006/relationships/image" Target="../media/image146.png"/><Relationship Id="rId5" Type="http://schemas.openxmlformats.org/officeDocument/2006/relationships/image" Target="../media/image1400.png"/><Relationship Id="rId15" Type="http://schemas.openxmlformats.org/officeDocument/2006/relationships/image" Target="../media/image156.png"/><Relationship Id="rId10" Type="http://schemas.openxmlformats.org/officeDocument/2006/relationships/image" Target="../media/image1450.png"/><Relationship Id="rId19" Type="http://schemas.openxmlformats.org/officeDocument/2006/relationships/image" Target="../media/image163.png"/><Relationship Id="rId4" Type="http://schemas.openxmlformats.org/officeDocument/2006/relationships/image" Target="../media/image1390.png"/><Relationship Id="rId9" Type="http://schemas.openxmlformats.org/officeDocument/2006/relationships/image" Target="../media/image1440.png"/><Relationship Id="rId14" Type="http://schemas.openxmlformats.org/officeDocument/2006/relationships/image" Target="../media/image159.png"/><Relationship Id="rId22" Type="http://schemas.openxmlformats.org/officeDocument/2006/relationships/image" Target="../media/image16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image" Target="../media/image1660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8F6DC-D91F-8943-7639-BEF514B4D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9F236-2293-6251-DC1A-528D8F721B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9533" y="1587195"/>
            <a:ext cx="7197726" cy="2421464"/>
          </a:xfrm>
        </p:spPr>
        <p:txBody>
          <a:bodyPr>
            <a:noAutofit/>
          </a:bodyPr>
          <a:lstStyle/>
          <a:p>
            <a:br>
              <a:rPr lang="es-US" sz="4000" b="1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4000" b="1">
                <a:latin typeface="Arial" panose="020B0604020202020204" pitchFamily="34" charset="0"/>
                <a:cs typeface="Arial" panose="020B0604020202020204" pitchFamily="34" charset="0"/>
              </a:rPr>
              <a:t> Implementación en FPGA de una arquitectura para la reconstrucción acelerada de imágenes de pMRI a partir de datos de k-espacio 	</a:t>
            </a:r>
            <a:br>
              <a:rPr lang="es-MX" sz="4000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US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0CD90-D481-CA43-2AEC-CC1916CD1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78" y="3344235"/>
            <a:ext cx="4687627" cy="31289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6692B8-8DC6-B7BD-B72B-A90043237066}"/>
              </a:ext>
            </a:extLst>
          </p:cNvPr>
          <p:cNvSpPr txBox="1"/>
          <p:nvPr/>
        </p:nvSpPr>
        <p:spPr>
          <a:xfrm>
            <a:off x="5330229" y="6288560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/>
              <a:t>Weekly report: 10/03/2026 	</a:t>
            </a:r>
            <a:endParaRPr lang="es-US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8022FF-9134-BFFB-2AD0-87CEEC567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43" y="318768"/>
            <a:ext cx="3735490" cy="24791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227C8D-88CD-375E-60E6-D13B01DE6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544" y="3617601"/>
            <a:ext cx="5046877" cy="232128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62BC91A-8B14-673F-37CE-03A9C075623A}"/>
              </a:ext>
            </a:extLst>
          </p:cNvPr>
          <p:cNvSpPr txBox="1">
            <a:spLocks/>
          </p:cNvSpPr>
          <p:nvPr/>
        </p:nvSpPr>
        <p:spPr>
          <a:xfrm>
            <a:off x="8517680" y="5871102"/>
            <a:ext cx="3351230" cy="78678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Font Julian</a:t>
            </a:r>
          </a:p>
        </p:txBody>
      </p:sp>
    </p:spTree>
    <p:extLst>
      <p:ext uri="{BB962C8B-B14F-4D97-AF65-F5344CB8AC3E}">
        <p14:creationId xmlns:p14="http://schemas.microsoft.com/office/powerpoint/2010/main" val="3361395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0BCD3-D968-168A-1470-475465746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1E48F2DE-7A02-B87A-618B-6E0D03893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1050" y="366244"/>
            <a:ext cx="4829175" cy="698173"/>
          </a:xfrm>
        </p:spPr>
        <p:txBody>
          <a:bodyPr>
            <a:normAutofit/>
          </a:bodyPr>
          <a:lstStyle/>
          <a:p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Phased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array coils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D59C07-FC02-1E9A-5A3E-D1DB4C84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181098"/>
            <a:ext cx="5469435" cy="23336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A03A45-D8DD-15A0-C056-4B95FD82D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533" y="1404759"/>
            <a:ext cx="6140192" cy="44912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469B66-0FE4-1090-2C81-07DCA1C786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3857624"/>
            <a:ext cx="5424103" cy="23336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A940B7-2FE4-6F04-023F-A8735A593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5424" y="2450969"/>
            <a:ext cx="1251301" cy="34168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FCB86E-C092-1EE1-3A0B-898E291A457C}"/>
              </a:ext>
            </a:extLst>
          </p:cNvPr>
          <p:cNvSpPr txBox="1"/>
          <p:nvPr/>
        </p:nvSpPr>
        <p:spPr>
          <a:xfrm>
            <a:off x="9950759" y="12301"/>
            <a:ext cx="23889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>
                <a:solidFill>
                  <a:srgbClr val="FF0000"/>
                </a:solidFill>
              </a:rPr>
              <a:t>Week: 20/02/2026 	</a:t>
            </a:r>
            <a:endParaRPr lang="es-US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739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D270F8DF-EB99-8385-4A0D-1115451EC405}"/>
              </a:ext>
            </a:extLst>
          </p:cNvPr>
          <p:cNvSpPr/>
          <p:nvPr/>
        </p:nvSpPr>
        <p:spPr>
          <a:xfrm rot="5400000">
            <a:off x="5329544" y="3949880"/>
            <a:ext cx="1172066" cy="27573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E0191C8-2D2A-81F9-B08B-989B6E721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66" y="4954022"/>
            <a:ext cx="6588822" cy="174670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F20E140E-A2C9-9DEB-F36E-E174EA0AEF5A}"/>
              </a:ext>
            </a:extLst>
          </p:cNvPr>
          <p:cNvSpPr txBox="1">
            <a:spLocks/>
          </p:cNvSpPr>
          <p:nvPr/>
        </p:nvSpPr>
        <p:spPr>
          <a:xfrm>
            <a:off x="1892827" y="3636529"/>
            <a:ext cx="3759725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Continuos Time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484B1AFA-A02D-DB68-A4F7-3762218BF050}"/>
              </a:ext>
            </a:extLst>
          </p:cNvPr>
          <p:cNvSpPr txBox="1">
            <a:spLocks/>
          </p:cNvSpPr>
          <p:nvPr/>
        </p:nvSpPr>
        <p:spPr>
          <a:xfrm>
            <a:off x="1178351" y="238097"/>
            <a:ext cx="9530498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Mathematical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aquisition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domains</a:t>
            </a:r>
            <a:endParaRPr lang="es-US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85F2CA8-1A92-DF32-AFBA-259CB5340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838" y="950213"/>
            <a:ext cx="5761524" cy="245198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E3EE4E5-B897-E61F-D93A-725508D927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8947" y="3635604"/>
            <a:ext cx="2898959" cy="107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75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EB56-78E3-023A-3927-3BCE523B8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A061B05C-B4AB-D7A0-35C0-4FFBA33C5EAE}"/>
              </a:ext>
            </a:extLst>
          </p:cNvPr>
          <p:cNvSpPr/>
          <p:nvPr/>
        </p:nvSpPr>
        <p:spPr>
          <a:xfrm rot="5400000">
            <a:off x="5329544" y="3949880"/>
            <a:ext cx="1172066" cy="27573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B82740FB-5DD7-BC4C-885E-7FEF8C2762A7}"/>
              </a:ext>
            </a:extLst>
          </p:cNvPr>
          <p:cNvSpPr txBox="1">
            <a:spLocks/>
          </p:cNvSpPr>
          <p:nvPr/>
        </p:nvSpPr>
        <p:spPr>
          <a:xfrm>
            <a:off x="1892827" y="3636529"/>
            <a:ext cx="3759725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Discrete Time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064B5C5-485F-2736-BD3F-CE438841BF9A}"/>
              </a:ext>
            </a:extLst>
          </p:cNvPr>
          <p:cNvSpPr txBox="1">
            <a:spLocks/>
          </p:cNvSpPr>
          <p:nvPr/>
        </p:nvSpPr>
        <p:spPr>
          <a:xfrm>
            <a:off x="1178351" y="238097"/>
            <a:ext cx="9530498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Mathematical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aquisition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domains</a:t>
            </a:r>
            <a:endParaRPr lang="es-US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8ABFCE-0FC1-2F21-39DF-583C5A4ED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883" y="4914690"/>
            <a:ext cx="8297433" cy="1705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314A6A-8893-42B0-A21B-3788E7A81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61" y="1175511"/>
            <a:ext cx="7754432" cy="17337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B05FB2-3C3E-3506-6D19-803D4ADFB5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223" y="3362665"/>
            <a:ext cx="3147140" cy="117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972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F0B7-BF42-0FA9-CE3D-D7D1112A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3A515D3-F919-37FF-1F3C-55B2E710980F}"/>
              </a:ext>
            </a:extLst>
          </p:cNvPr>
          <p:cNvSpPr txBox="1">
            <a:spLocks/>
          </p:cNvSpPr>
          <p:nvPr/>
        </p:nvSpPr>
        <p:spPr>
          <a:xfrm>
            <a:off x="1883986" y="135230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Sensitivity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pre-scan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es-US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372A42-53FD-18B2-DF64-BCAC7F307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58" y="1407184"/>
            <a:ext cx="11482284" cy="1381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89E502F-F013-03A0-D7AF-6568FB09F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203" y="4183192"/>
            <a:ext cx="2381582" cy="619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7C37E5-140A-15E6-2B99-B03E7BF99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212" y="3003542"/>
            <a:ext cx="2620964" cy="35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25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F29D-5BB6-4A02-0F7B-06F00ED3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F3238-77E2-F2BD-8A07-EE5383EE43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3000" y="2240097"/>
            <a:ext cx="2030277" cy="593888"/>
          </a:xfrm>
        </p:spPr>
        <p:txBody>
          <a:bodyPr>
            <a:normAutofit fontScale="90000"/>
          </a:bodyPr>
          <a:lstStyle/>
          <a:p>
            <a:r>
              <a:rPr lang="es-US" sz="3600"/>
              <a:t>Raw data from coils</a:t>
            </a:r>
            <a:br>
              <a:rPr lang="es-US" sz="3600"/>
            </a:br>
            <a:r>
              <a:rPr lang="es-US" sz="3600"/>
              <a:t>k-</a:t>
            </a:r>
            <a:r>
              <a:rPr lang="es-US" sz="3600" err="1"/>
              <a:t>space</a:t>
            </a:r>
            <a:endParaRPr lang="es-US" sz="36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3D2302-EBA3-FD60-9E24-41FE45F72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091" y="1055757"/>
            <a:ext cx="9474723" cy="2368681"/>
          </a:xfrm>
          <a:prstGeom prst="rect">
            <a:avLst/>
          </a:prstGeom>
        </p:spPr>
      </p:pic>
      <p:sp>
        <p:nvSpPr>
          <p:cNvPr id="11" name="Arrow: Down 10">
            <a:extLst>
              <a:ext uri="{FF2B5EF4-FFF2-40B4-BE49-F238E27FC236}">
                <a16:creationId xmlns:a16="http://schemas.microsoft.com/office/drawing/2014/main" id="{1B93B1AA-9441-F276-FCDD-23C60ECA29EA}"/>
              </a:ext>
            </a:extLst>
          </p:cNvPr>
          <p:cNvSpPr/>
          <p:nvPr/>
        </p:nvSpPr>
        <p:spPr>
          <a:xfrm>
            <a:off x="5250336" y="3749087"/>
            <a:ext cx="292231" cy="674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8CAAD1-FD94-BD0B-5E86-3866E457AC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04" y="4748554"/>
            <a:ext cx="9433096" cy="1179137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1A1F1E2-9080-5835-3D9B-4A5453CDDF2C}"/>
              </a:ext>
            </a:extLst>
          </p:cNvPr>
          <p:cNvSpPr txBox="1">
            <a:spLocks/>
          </p:cNvSpPr>
          <p:nvPr/>
        </p:nvSpPr>
        <p:spPr>
          <a:xfrm>
            <a:off x="9869474" y="4423904"/>
            <a:ext cx="2030277" cy="10296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/>
              <a:t>SENSE algorithm input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7763EE6A-E7B1-E799-E5C4-E9785F2D4A94}"/>
              </a:ext>
            </a:extLst>
          </p:cNvPr>
          <p:cNvSpPr txBox="1">
            <a:spLocks/>
          </p:cNvSpPr>
          <p:nvPr/>
        </p:nvSpPr>
        <p:spPr>
          <a:xfrm>
            <a:off x="1883986" y="135230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If no undersampling applied: Af = 1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252295E-5891-7BB2-2BFA-5BDF35DD1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0335" y="2920498"/>
            <a:ext cx="1593382" cy="50394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4A4C95D-7F96-2F1A-33B9-EFDF33EF6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335" y="5595173"/>
            <a:ext cx="1445588" cy="4241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BBF7E3E-43D8-27FD-C4A9-3879F909E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765" y="3846612"/>
            <a:ext cx="3240401" cy="479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43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353F0-4E0E-0ACB-0DA0-348479A3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B48BCC0-48CC-06EF-5E58-C78B20AB7FD1}"/>
              </a:ext>
            </a:extLst>
          </p:cNvPr>
          <p:cNvSpPr txBox="1">
            <a:spLocks/>
          </p:cNvSpPr>
          <p:nvPr/>
        </p:nvSpPr>
        <p:spPr>
          <a:xfrm>
            <a:off x="1545995" y="113122"/>
            <a:ext cx="8795209" cy="7729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= 1: pixel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pixel model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91219CA-34F8-703C-E00A-0104AAB917A6}"/>
              </a:ext>
            </a:extLst>
          </p:cNvPr>
          <p:cNvSpPr txBox="1">
            <a:spLocks/>
          </p:cNvSpPr>
          <p:nvPr/>
        </p:nvSpPr>
        <p:spPr>
          <a:xfrm>
            <a:off x="-403781" y="1055802"/>
            <a:ext cx="5381134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 err="1">
                <a:latin typeface="Arial" panose="020B0604020202020204" pitchFamily="34" charset="0"/>
                <a:cs typeface="Arial" panose="020B0604020202020204" pitchFamily="34" charset="0"/>
              </a:rPr>
              <a:t>Let’s</a:t>
            </a:r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 take one pixel, </a:t>
            </a:r>
            <a:r>
              <a:rPr lang="es-US" sz="2400" b="1" err="1">
                <a:latin typeface="Arial" panose="020B0604020202020204" pitchFamily="34" charset="0"/>
                <a:cs typeface="Arial" panose="020B0604020202020204" pitchFamily="34" charset="0"/>
              </a:rPr>
              <a:t>e.g</a:t>
            </a:r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. (1,1)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7119B3-AFCC-6592-6CE2-D7AA791F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85" y="1809945"/>
            <a:ext cx="6344721" cy="60350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E63C862-70CF-9440-8740-CE1FF83142BB}"/>
              </a:ext>
            </a:extLst>
          </p:cNvPr>
          <p:cNvSpPr txBox="1">
            <a:spLocks/>
          </p:cNvSpPr>
          <p:nvPr/>
        </p:nvSpPr>
        <p:spPr>
          <a:xfrm>
            <a:off x="226242" y="2941159"/>
            <a:ext cx="2754199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Vector notation: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DB580DD-222D-AD2B-A2DD-50EB76919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06" y="3714345"/>
            <a:ext cx="6237102" cy="13994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9244CE8-4F32-2196-6F7E-31EDE81C3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827" y="5522632"/>
            <a:ext cx="4544059" cy="733527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7B18416F-1ACF-3D4C-27F4-52BCBD10280E}"/>
              </a:ext>
            </a:extLst>
          </p:cNvPr>
          <p:cNvSpPr txBox="1">
            <a:spLocks/>
          </p:cNvSpPr>
          <p:nvPr/>
        </p:nvSpPr>
        <p:spPr>
          <a:xfrm>
            <a:off x="6956980" y="1715770"/>
            <a:ext cx="4520153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(noise is ignored for simplicity)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A7EF826-22B4-D0AE-7CC0-B4842E6DC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915" y="3267747"/>
            <a:ext cx="4660779" cy="114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76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B3527-EA10-7FF3-BB62-5967D390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66D0E98E-E4BF-588D-333A-F7DD708F4B57}"/>
              </a:ext>
            </a:extLst>
          </p:cNvPr>
          <p:cNvSpPr txBox="1">
            <a:spLocks/>
          </p:cNvSpPr>
          <p:nvPr/>
        </p:nvSpPr>
        <p:spPr>
          <a:xfrm>
            <a:off x="-179109" y="150829"/>
            <a:ext cx="9326252" cy="74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= 1: least-squares solution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D50A8CF-C588-9DD4-FAF2-640F9AD9D0B7}"/>
              </a:ext>
            </a:extLst>
          </p:cNvPr>
          <p:cNvSpPr txBox="1">
            <a:spLocks/>
          </p:cNvSpPr>
          <p:nvPr/>
        </p:nvSpPr>
        <p:spPr>
          <a:xfrm>
            <a:off x="169683" y="543498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find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s-US" sz="2800" b="1" i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that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minimizes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quadratic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error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between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the data and the model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5638A7-25D7-4044-DACA-79BC71DC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575" y="2765463"/>
            <a:ext cx="2343477" cy="866896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0967FD0-8412-DA92-16B5-7C45527A70F5}"/>
              </a:ext>
            </a:extLst>
          </p:cNvPr>
          <p:cNvSpPr/>
          <p:nvPr/>
        </p:nvSpPr>
        <p:spPr>
          <a:xfrm rot="19208913">
            <a:off x="3862850" y="3413166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1171B13-5D05-F94A-6DB1-F9DF582BFCEC}"/>
              </a:ext>
            </a:extLst>
          </p:cNvPr>
          <p:cNvSpPr/>
          <p:nvPr/>
        </p:nvSpPr>
        <p:spPr>
          <a:xfrm rot="13752640">
            <a:off x="6724563" y="3565724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D4D86AD-E1CD-70F3-3D4E-08DBDF9FAB9F}"/>
              </a:ext>
            </a:extLst>
          </p:cNvPr>
          <p:cNvSpPr txBox="1">
            <a:spLocks/>
          </p:cNvSpPr>
          <p:nvPr/>
        </p:nvSpPr>
        <p:spPr>
          <a:xfrm>
            <a:off x="2942894" y="3706819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BB7E104-3C4C-9F97-20A1-9C4E257EF829}"/>
              </a:ext>
            </a:extLst>
          </p:cNvPr>
          <p:cNvSpPr txBox="1">
            <a:spLocks/>
          </p:cNvSpPr>
          <p:nvPr/>
        </p:nvSpPr>
        <p:spPr>
          <a:xfrm>
            <a:off x="7532019" y="3761061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F1EC629-DDA1-4F61-F93D-D668E1990A53}"/>
              </a:ext>
            </a:extLst>
          </p:cNvPr>
          <p:cNvSpPr txBox="1">
            <a:spLocks/>
          </p:cNvSpPr>
          <p:nvPr/>
        </p:nvSpPr>
        <p:spPr>
          <a:xfrm>
            <a:off x="95839" y="5285445"/>
            <a:ext cx="9208416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This is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optimization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problem,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written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as: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01440AF-585F-3091-0C06-A2F1A8E08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019" y="5422167"/>
            <a:ext cx="4016335" cy="68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115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232E-B974-944E-7E58-4B8578433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706EC4A-C3DD-79FD-EC20-40D53993E282}"/>
              </a:ext>
            </a:extLst>
          </p:cNvPr>
          <p:cNvSpPr txBox="1">
            <a:spLocks/>
          </p:cNvSpPr>
          <p:nvPr/>
        </p:nvSpPr>
        <p:spPr>
          <a:xfrm>
            <a:off x="0" y="102779"/>
            <a:ext cx="10096107" cy="74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= 1: Moore-Penrose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pesudoinverse</a:t>
            </a:r>
            <a:endParaRPr lang="es-US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0DA9284-CAB3-774D-8CAB-1806063C8936}"/>
              </a:ext>
            </a:extLst>
          </p:cNvPr>
          <p:cNvSpPr txBox="1">
            <a:spLocks/>
          </p:cNvSpPr>
          <p:nvPr/>
        </p:nvSpPr>
        <p:spPr>
          <a:xfrm>
            <a:off x="169683" y="543498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This is a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well-known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problem and can be resolved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the Moore-Penrose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pseudoinverse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written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as: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1E357F-63A9-F8E8-AFE2-204AD33F7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133" y="2176008"/>
            <a:ext cx="4143663" cy="117556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5C0549E-D9C8-CB19-0CDE-98625632FB1B}"/>
              </a:ext>
            </a:extLst>
          </p:cNvPr>
          <p:cNvSpPr txBox="1">
            <a:spLocks/>
          </p:cNvSpPr>
          <p:nvPr/>
        </p:nvSpPr>
        <p:spPr>
          <a:xfrm>
            <a:off x="169683" y="3351574"/>
            <a:ext cx="10737130" cy="55449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 err="1">
                <a:latin typeface="Arial" panose="020B0604020202020204" pitchFamily="34" charset="0"/>
                <a:cs typeface="Arial" panose="020B0604020202020204" pitchFamily="34" charset="0"/>
              </a:rPr>
              <a:t>Decomposed</a:t>
            </a:r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 as: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82F159-FE3B-7D33-D35E-3F47E2055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97" y="5328406"/>
            <a:ext cx="4926833" cy="11351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735FF6C-5941-2D2A-E9D4-8BD3B2624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97" y="4108107"/>
            <a:ext cx="5730088" cy="1018682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841F42A3-A542-DB18-1DAC-DCA3FF9372FC}"/>
              </a:ext>
            </a:extLst>
          </p:cNvPr>
          <p:cNvSpPr/>
          <p:nvPr/>
        </p:nvSpPr>
        <p:spPr>
          <a:xfrm>
            <a:off x="6303391" y="4974033"/>
            <a:ext cx="1275761" cy="5544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DEB2C55-2F60-90B2-E165-8E5FB8BCA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8558" y="4381972"/>
            <a:ext cx="3770052" cy="173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5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8181-8E94-04D9-26E4-7E49B13B9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4398D-B1F0-CA00-69D6-37FAAA9E1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3000" y="1272619"/>
            <a:ext cx="2030277" cy="1561366"/>
          </a:xfrm>
        </p:spPr>
        <p:txBody>
          <a:bodyPr>
            <a:normAutofit fontScale="90000"/>
          </a:bodyPr>
          <a:lstStyle/>
          <a:p>
            <a:r>
              <a:rPr lang="es-US" sz="3600"/>
              <a:t>Raw data from coils</a:t>
            </a:r>
            <a:br>
              <a:rPr lang="es-US" sz="3600"/>
            </a:br>
            <a:r>
              <a:rPr lang="es-US" sz="3600"/>
              <a:t>k-</a:t>
            </a:r>
            <a:r>
              <a:rPr lang="es-US" sz="3600" err="1"/>
              <a:t>space</a:t>
            </a:r>
            <a:endParaRPr lang="es-US" sz="360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2DA1F06-4B70-1B7B-BA83-02E04BCBDA28}"/>
              </a:ext>
            </a:extLst>
          </p:cNvPr>
          <p:cNvSpPr/>
          <p:nvPr/>
        </p:nvSpPr>
        <p:spPr>
          <a:xfrm>
            <a:off x="5250336" y="3749087"/>
            <a:ext cx="292231" cy="674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1B579E9-E355-8268-0D40-690E3EA3807E}"/>
              </a:ext>
            </a:extLst>
          </p:cNvPr>
          <p:cNvSpPr txBox="1">
            <a:spLocks/>
          </p:cNvSpPr>
          <p:nvPr/>
        </p:nvSpPr>
        <p:spPr>
          <a:xfrm>
            <a:off x="9869474" y="4423904"/>
            <a:ext cx="2030277" cy="102968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/>
              <a:t>SENSE algorithm input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909F4FB1-844E-B9AF-D77A-183E07A34A64}"/>
              </a:ext>
            </a:extLst>
          </p:cNvPr>
          <p:cNvSpPr txBox="1">
            <a:spLocks/>
          </p:cNvSpPr>
          <p:nvPr/>
        </p:nvSpPr>
        <p:spPr>
          <a:xfrm>
            <a:off x="1883986" y="135230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Undersampling applied: Af =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6F31E-1BFF-5D02-4943-8A77ADF7D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94" y="1003835"/>
            <a:ext cx="8844883" cy="22112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1A3A1A-7B16-A076-5B3C-F4C651BDC3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58" y="4804975"/>
            <a:ext cx="9232554" cy="11540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BFEF37-ADAE-7A6E-5C84-C883822E59FA}"/>
                  </a:ext>
                </a:extLst>
              </p:cNvPr>
              <p:cNvSpPr txBox="1"/>
              <p:nvPr/>
            </p:nvSpPr>
            <p:spPr>
              <a:xfrm>
                <a:off x="283860" y="3368016"/>
                <a:ext cx="4832510" cy="9678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>
                    <a:latin typeface="Arial" panose="020B0604020202020204" pitchFamily="34" charset="0"/>
                    <a:cs typeface="Arial" panose="020B0604020202020204" pitchFamily="34" charset="0"/>
                  </a:rPr>
                  <a:t>Undersampling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s-US">
                    <a:latin typeface="Arial" panose="020B0604020202020204" pitchFamily="34" charset="0"/>
                    <a:cs typeface="Arial" panose="020B0604020202020204" pitchFamily="34" charset="0"/>
                  </a:rPr>
                  <a:t> (acceleration factor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US">
                    <a:latin typeface="Arial" panose="020B0604020202020204" pitchFamily="34" charset="0"/>
                    <a:cs typeface="Arial" panose="020B0604020202020204" pitchFamily="34" charset="0"/>
                  </a:rPr>
                  <a:t> causes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s-US">
                    <a:latin typeface="Arial" panose="020B0604020202020204" pitchFamily="34" charset="0"/>
                    <a:cs typeface="Arial" panose="020B0604020202020204" pitchFamily="34" charset="0"/>
                  </a:rPr>
                  <a:t> pixels of the full-FOV image to fold into one aliased pixel in each coil image.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BFEF37-ADAE-7A6E-5C84-C883822E5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60" y="3368016"/>
                <a:ext cx="4832510" cy="967829"/>
              </a:xfrm>
              <a:prstGeom prst="rect">
                <a:avLst/>
              </a:prstGeom>
              <a:blipFill>
                <a:blip r:embed="rId4"/>
                <a:stretch>
                  <a:fillRect l="-1136" t="-3145" r="-1136" b="-9434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BB350ED-47C4-62C8-C79B-F05E41172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492" y="5453588"/>
            <a:ext cx="1701225" cy="610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699A43-2BD8-CA39-DB7B-18F625B843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3642" y="2896837"/>
            <a:ext cx="1658924" cy="674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1454AD-F1D6-283A-E8C9-BBE89D1F13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1766" y="3438012"/>
            <a:ext cx="4148508" cy="4098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C8E757-715B-054A-2996-3754889A3BD1}"/>
                  </a:ext>
                </a:extLst>
              </p:cNvPr>
              <p:cNvSpPr txBox="1"/>
              <p:nvPr/>
            </p:nvSpPr>
            <p:spPr>
              <a:xfrm>
                <a:off x="417824" y="6016949"/>
                <a:ext cx="6831388" cy="3912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i="1">
                    <a:latin typeface="Arial" panose="020B0604020202020204" pitchFamily="34" charset="0"/>
                    <a:cs typeface="Arial" panose="020B0604020202020204" pitchFamily="34" charset="0"/>
                  </a:rPr>
                  <a:t>Images are displayed zero-filled to full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e>
                      <m:sub>
                        <m:r>
                          <a:rPr lang="es-US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s-US" i="1">
                    <a:latin typeface="Arial" panose="020B0604020202020204" pitchFamily="34" charset="0"/>
                    <a:cs typeface="Arial" panose="020B0604020202020204" pitchFamily="34" charset="0"/>
                  </a:rPr>
                  <a:t> for better visualization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C8E757-715B-054A-2996-3754889A3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4" y="6016949"/>
                <a:ext cx="6831388" cy="391261"/>
              </a:xfrm>
              <a:prstGeom prst="rect">
                <a:avLst/>
              </a:prstGeom>
              <a:blipFill>
                <a:blip r:embed="rId8"/>
                <a:stretch>
                  <a:fillRect l="-804" t="-7813" b="-1875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060C8C08-E1E0-179E-4D61-B68E408E11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67540" y="4002803"/>
            <a:ext cx="1900503" cy="6096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A68557-51E1-DB66-F18D-4AB691605E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6876" y="4172153"/>
            <a:ext cx="1596354" cy="270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96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7D777-D440-3917-3ABE-309EA467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415B31E-2A1F-F40E-DBF5-105E50578D98}"/>
              </a:ext>
            </a:extLst>
          </p:cNvPr>
          <p:cNvSpPr txBox="1">
            <a:spLocks/>
          </p:cNvSpPr>
          <p:nvPr/>
        </p:nvSpPr>
        <p:spPr>
          <a:xfrm>
            <a:off x="1242963" y="275362"/>
            <a:ext cx="7317161" cy="6658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sensitvity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maps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2ADDD7-1288-7416-6A47-99ACCD883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58" y="1407184"/>
            <a:ext cx="11482284" cy="1381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DFB554-CED9-4B11-8B9B-672EA5134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203" y="4183192"/>
            <a:ext cx="2381582" cy="619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7FB02D-F582-1C86-BF25-B3E59148D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6212" y="3003542"/>
            <a:ext cx="2620964" cy="359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710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3CC78-440D-FB88-B339-9EDECA62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BE4CBDF-8161-B892-BF46-6EF43DE46A97}"/>
              </a:ext>
            </a:extLst>
          </p:cNvPr>
          <p:cNvSpPr txBox="1">
            <a:spLocks/>
          </p:cNvSpPr>
          <p:nvPr/>
        </p:nvSpPr>
        <p:spPr>
          <a:xfrm>
            <a:off x="226243" y="113122"/>
            <a:ext cx="11250890" cy="9426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&gt; 1: now we gotta scale with aliasing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4FC55F6B-4B99-4471-A51B-7509EA453F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03782" y="1055802"/>
                <a:ext cx="11640533" cy="58446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82500" lnSpcReduction="100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Let’s take one folded pixel,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e.g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sub>
                    </m:sSub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  <m:sup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𝒂𝒍𝒊𝒂𝒔</m:t>
                        </m:r>
                      </m:sup>
                    </m:sSubSup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) (Will asume undersampling in the y direction)</a:t>
                </a: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4FC55F6B-4B99-4471-A51B-7509EA453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3782" y="1055802"/>
                <a:ext cx="11640533" cy="584460"/>
              </a:xfrm>
              <a:prstGeom prst="rect">
                <a:avLst/>
              </a:prstGeom>
              <a:blipFill>
                <a:blip r:embed="rId2"/>
                <a:stretch>
                  <a:fillRect r="-524" b="-1354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itle 1">
            <a:extLst>
              <a:ext uri="{FF2B5EF4-FFF2-40B4-BE49-F238E27FC236}">
                <a16:creationId xmlns:a16="http://schemas.microsoft.com/office/drawing/2014/main" id="{3127DB14-7B54-D70B-FAA0-6E3344372C5B}"/>
              </a:ext>
            </a:extLst>
          </p:cNvPr>
          <p:cNvSpPr txBox="1">
            <a:spLocks/>
          </p:cNvSpPr>
          <p:nvPr/>
        </p:nvSpPr>
        <p:spPr>
          <a:xfrm>
            <a:off x="116262" y="2538869"/>
            <a:ext cx="2361438" cy="4305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Matrix notation: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545816D9-455E-F766-0767-4E5F61ADB73B}"/>
              </a:ext>
            </a:extLst>
          </p:cNvPr>
          <p:cNvSpPr txBox="1">
            <a:spLocks/>
          </p:cNvSpPr>
          <p:nvPr/>
        </p:nvSpPr>
        <p:spPr>
          <a:xfrm>
            <a:off x="8352147" y="1812981"/>
            <a:ext cx="2884604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1400" b="1">
                <a:latin typeface="Arial" panose="020B0604020202020204" pitchFamily="34" charset="0"/>
                <a:cs typeface="Arial" panose="020B0604020202020204" pitchFamily="34" charset="0"/>
              </a:rPr>
              <a:t>(again, noise is ignored for simplicity)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3361E6-EB29-2565-8FAF-53275E42E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06" y="1779733"/>
            <a:ext cx="7935432" cy="752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F2B246-D52D-FCB0-B8FF-8D48F5AD1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133" y="2969443"/>
            <a:ext cx="7041820" cy="38402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5A99FB-B78F-74AA-02D0-501E8F14C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8788" y="6167782"/>
            <a:ext cx="1890346" cy="3208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92EB17-8B67-35E3-07A4-5C1AA7F8AF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788" y="5368678"/>
            <a:ext cx="1900503" cy="6096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D68DC775-CF5A-8BB8-CA0E-0FC08EF932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634953" y="2397440"/>
                <a:ext cx="3440785" cy="285328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In example,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1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1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  <m:r>
                      <a:rPr lang="es-US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1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  <m:r>
                      <a:rPr lang="es-US" sz="1400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US" sz="1400" b="1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sSubSup>
                        <m:sSubSupPr>
                          <m:ctrlP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sub>
                        <m:sup>
                          <m:r>
                            <a:rPr lang="es-US" sz="1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s-US" sz="1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  <m:r>
                            <a:rPr lang="es-US" sz="1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sup>
                      </m:sSubSup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𝒘𝒆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𝒄𝒐𝒗𝒆𝒓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𝒕𝒉𝒆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𝒇𝒊𝒓𝒔𝒕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𝒉𝒂𝒍𝒇</m:t>
                      </m:r>
                    </m:oMath>
                    <m:oMath xmlns:m="http://schemas.openxmlformats.org/officeDocument/2006/math"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𝒓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𝟏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sSubSup>
                        <m:sSubSupPr>
                          <m:ctrlP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𝒏</m:t>
                          </m:r>
                        </m:e>
                        <m:sub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𝒚</m:t>
                          </m:r>
                        </m:sub>
                        <m:sup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s-US" sz="1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  <m:r>
                            <a:rPr lang="es-US" sz="1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sup>
                      </m:sSubSup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: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𝒘𝒆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𝒄𝒐𝒗𝒆𝒓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𝒕𝒉𝒆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𝒔𝒆𝒄𝒐𝒏𝒅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s-US" sz="1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𝒉𝒂𝒍𝒇</m:t>
                      </m:r>
                    </m:oMath>
                  </m:oMathPara>
                </a14:m>
                <a:endParaRPr lang="es-US" sz="1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D68DC775-CF5A-8BB8-CA0E-0FC08EF93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4953" y="2397440"/>
                <a:ext cx="3440785" cy="2853289"/>
              </a:xfrm>
              <a:prstGeom prst="rect">
                <a:avLst/>
              </a:prstGeom>
              <a:blipFill>
                <a:blip r:embed="rId7"/>
                <a:stretch>
                  <a:fillRect l="-531" b="-42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7469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FB295-FC34-7A84-B394-D9DEB8321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C4DCE37-0B35-77C1-A2FC-D7A5113F6D5A}"/>
              </a:ext>
            </a:extLst>
          </p:cNvPr>
          <p:cNvSpPr txBox="1">
            <a:spLocks/>
          </p:cNvSpPr>
          <p:nvPr/>
        </p:nvSpPr>
        <p:spPr>
          <a:xfrm>
            <a:off x="226242" y="-141401"/>
            <a:ext cx="10487320" cy="13008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&gt; 1: now we use matrices </a:t>
            </a:r>
            <a:r>
              <a:rPr lang="es-US" sz="3600" b="1" err="1">
                <a:latin typeface="Arial" panose="020B0604020202020204" pitchFamily="34" charset="0"/>
                <a:cs typeface="Arial" panose="020B0604020202020204" pitchFamily="34" charset="0"/>
              </a:rPr>
              <a:t>instead</a:t>
            </a:r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 of vectors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22CEA3-8FAA-47AA-BDF6-E7F7ADE183D8}"/>
              </a:ext>
            </a:extLst>
          </p:cNvPr>
          <p:cNvSpPr txBox="1">
            <a:spLocks/>
          </p:cNvSpPr>
          <p:nvPr/>
        </p:nvSpPr>
        <p:spPr>
          <a:xfrm>
            <a:off x="1842620" y="1527588"/>
            <a:ext cx="2205873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With Af = 1: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D5BC0B-9AB1-A1DE-5ED3-B10D9C1F9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98" y="3521968"/>
            <a:ext cx="4660779" cy="11463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BABBB0-DC02-A30C-0C8B-29401E21A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620" y="2480141"/>
            <a:ext cx="1934338" cy="71554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A2C0AFE-BA50-1E10-1593-ABE0EC3864C2}"/>
              </a:ext>
            </a:extLst>
          </p:cNvPr>
          <p:cNvSpPr txBox="1">
            <a:spLocks/>
          </p:cNvSpPr>
          <p:nvPr/>
        </p:nvSpPr>
        <p:spPr>
          <a:xfrm>
            <a:off x="8041452" y="1527588"/>
            <a:ext cx="2205873" cy="58446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With Af &gt; 1: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2458E6-B582-D58F-78F3-5521198DDC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094" y="5620838"/>
            <a:ext cx="5820587" cy="800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5C3144-606C-9FD2-0D41-05B1E58DEF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27" y="5620838"/>
            <a:ext cx="4458322" cy="5334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2DEAD3-9744-39F3-8CD4-A282313291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2669" y="2480140"/>
            <a:ext cx="2464656" cy="8002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793337D-F265-1A25-7E53-AD91815961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3634" y="3690894"/>
            <a:ext cx="5602726" cy="105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40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3F96-ED00-1A76-4E6B-2E372B2B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5CDCFF7D-6345-A714-AC22-F49469E327C6}"/>
              </a:ext>
            </a:extLst>
          </p:cNvPr>
          <p:cNvSpPr txBox="1">
            <a:spLocks/>
          </p:cNvSpPr>
          <p:nvPr/>
        </p:nvSpPr>
        <p:spPr>
          <a:xfrm>
            <a:off x="-179109" y="150829"/>
            <a:ext cx="9326252" cy="7447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SENSE with Af &gt; 1: least-squares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6C0B68C1-8CBF-7722-3401-F6F1532020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83" y="543498"/>
                <a:ext cx="10737130" cy="138573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We want to estimate the vector </a:t>
                </a:r>
                <a14:m>
                  <m:oMath xmlns:m="http://schemas.openxmlformats.org/officeDocument/2006/math">
                    <m:r>
                      <a:rPr lang="es-US" sz="28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𝐦</m:t>
                    </m:r>
                    <m:r>
                      <a:rPr lang="es-US" sz="28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that best explains the measured data</a:t>
                </a:r>
                <a:r>
                  <a:rPr lang="es-US" sz="2800" b="1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𝒚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. This leads again to a least-squares problem</a:t>
                </a: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6C0B68C1-8CBF-7722-3401-F6F153202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3" y="543498"/>
                <a:ext cx="10737130" cy="1385739"/>
              </a:xfrm>
              <a:prstGeom prst="rect">
                <a:avLst/>
              </a:prstGeom>
              <a:blipFill>
                <a:blip r:embed="rId2"/>
                <a:stretch>
                  <a:fillRect l="-1079" b="-1013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21C451B6-F26A-3B8B-9359-D533119A1D2E}"/>
              </a:ext>
            </a:extLst>
          </p:cNvPr>
          <p:cNvSpPr/>
          <p:nvPr/>
        </p:nvSpPr>
        <p:spPr>
          <a:xfrm rot="19208913">
            <a:off x="3862850" y="3413166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0A55EBC-4E67-D140-002B-7B2763C09CAD}"/>
              </a:ext>
            </a:extLst>
          </p:cNvPr>
          <p:cNvSpPr/>
          <p:nvPr/>
        </p:nvSpPr>
        <p:spPr>
          <a:xfrm rot="13752640">
            <a:off x="6724563" y="3565724"/>
            <a:ext cx="947278" cy="334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B977A16-B7FC-FF9A-5D2D-A18D202B6F81}"/>
              </a:ext>
            </a:extLst>
          </p:cNvPr>
          <p:cNvSpPr txBox="1">
            <a:spLocks/>
          </p:cNvSpPr>
          <p:nvPr/>
        </p:nvSpPr>
        <p:spPr>
          <a:xfrm>
            <a:off x="2942894" y="3706819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D755260-0B31-D0C8-4DC5-87559390C84F}"/>
              </a:ext>
            </a:extLst>
          </p:cNvPr>
          <p:cNvSpPr txBox="1">
            <a:spLocks/>
          </p:cNvSpPr>
          <p:nvPr/>
        </p:nvSpPr>
        <p:spPr>
          <a:xfrm>
            <a:off x="7532019" y="3761061"/>
            <a:ext cx="1393595" cy="68815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CCA77AF-AC50-BC68-37A2-F01FF46F398B}"/>
              </a:ext>
            </a:extLst>
          </p:cNvPr>
          <p:cNvSpPr txBox="1">
            <a:spLocks/>
          </p:cNvSpPr>
          <p:nvPr/>
        </p:nvSpPr>
        <p:spPr>
          <a:xfrm>
            <a:off x="95839" y="5285445"/>
            <a:ext cx="9208416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Again, this leads to: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5ADC83-C92F-0C05-EED8-E00532A9C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978" y="2614065"/>
            <a:ext cx="2464656" cy="800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293B70-511F-2FB1-DBCA-B3AF1AB522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691" y="5191859"/>
            <a:ext cx="5158887" cy="11449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8B8B6E-42F6-93EF-A554-6B76B8EFDE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4913" y="5049434"/>
            <a:ext cx="1896934" cy="47202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FDFFD09-C93B-10DA-430D-C4DB1DD84255}"/>
              </a:ext>
            </a:extLst>
          </p:cNvPr>
          <p:cNvSpPr txBox="1">
            <a:spLocks/>
          </p:cNvSpPr>
          <p:nvPr/>
        </p:nvSpPr>
        <p:spPr>
          <a:xfrm>
            <a:off x="9503397" y="4200511"/>
            <a:ext cx="4183144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000" b="1">
                <a:latin typeface="Arial" panose="020B0604020202020204" pitchFamily="34" charset="0"/>
                <a:cs typeface="Arial" panose="020B0604020202020204" pitchFamily="34" charset="0"/>
              </a:rPr>
              <a:t>Note that now: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93265A-F300-0D68-DD7C-4D26F0D73036}"/>
              </a:ext>
            </a:extLst>
          </p:cNvPr>
          <p:cNvSpPr txBox="1">
            <a:spLocks/>
          </p:cNvSpPr>
          <p:nvPr/>
        </p:nvSpPr>
        <p:spPr>
          <a:xfrm>
            <a:off x="9147143" y="5757739"/>
            <a:ext cx="2949018" cy="75741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000" b="1">
                <a:latin typeface="Arial" panose="020B0604020202020204" pitchFamily="34" charset="0"/>
                <a:cs typeface="Arial" panose="020B0604020202020204" pitchFamily="34" charset="0"/>
              </a:rPr>
              <a:t>This means we can use Cholesky, LU decomposition, gauss elimination, etc</a:t>
            </a:r>
          </a:p>
        </p:txBody>
      </p:sp>
    </p:spTree>
    <p:extLst>
      <p:ext uri="{BB962C8B-B14F-4D97-AF65-F5344CB8AC3E}">
        <p14:creationId xmlns:p14="http://schemas.microsoft.com/office/powerpoint/2010/main" val="2975983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3A676-0CDE-E720-2832-8B4826F34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F968FB93-122E-2794-E32F-34A5FFE25E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83" y="148877"/>
                <a:ext cx="9209987" cy="822083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Why can’t we </a:t>
                </a:r>
                <a:r>
                  <a:rPr lang="es-US" sz="36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simply</a:t>
                </a:r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US" sz="3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𝐒</m:t>
                        </m:r>
                      </m:e>
                      <m:sup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r>
                      <a:rPr lang="es-US" sz="36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?</m:t>
                    </m:r>
                  </m:oMath>
                </a14:m>
                <a:endParaRPr lang="es-US" sz="36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F968FB93-122E-2794-E32F-34A5FFE25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3" y="148877"/>
                <a:ext cx="9209987" cy="822083"/>
              </a:xfrm>
              <a:prstGeom prst="rect">
                <a:avLst/>
              </a:prstGeom>
              <a:blipFill>
                <a:blip r:embed="rId2"/>
                <a:stretch>
                  <a:fillRect l="-1985" b="-2740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A9C489E9-84BF-A805-4EB5-0B3D5B2E94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83" y="845326"/>
                <a:ext cx="10859678" cy="1920137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simpler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solution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to the problem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could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US" sz="32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US" sz="32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𝐒</m:t>
                        </m:r>
                      </m:e>
                      <m:sup>
                        <m:r>
                          <a:rPr lang="es-US" sz="3200" b="1" i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s-US" sz="3200" b="1" i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p>
                    </m:sSup>
                    <m:r>
                      <a:rPr lang="es-US" sz="32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𝐲</m:t>
                    </m:r>
                    <m:r>
                      <a:rPr lang="es-US" sz="32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32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𝐦</m:t>
                    </m:r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</a:p>
              <a:p>
                <a:pPr algn="l"/>
                <a:endParaRPr lang="es-US" sz="24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cannot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do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because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have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the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noise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term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wich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decided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to ignore). </a:t>
                </a:r>
              </a:p>
              <a:p>
                <a:pPr algn="l"/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Also, the </a:t>
                </a:r>
                <a14:m>
                  <m:oMath xmlns:m="http://schemas.openxmlformats.org/officeDocument/2006/math">
                    <m:r>
                      <a:rPr lang="es-U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𝐒</m:t>
                    </m:r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matrix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not invertible in the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classic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sense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4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because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A9C489E9-84BF-A805-4EB5-0B3D5B2E94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3" y="845326"/>
                <a:ext cx="10859678" cy="1920137"/>
              </a:xfrm>
              <a:prstGeom prst="rect">
                <a:avLst/>
              </a:prstGeom>
              <a:blipFill>
                <a:blip r:embed="rId3"/>
                <a:stretch>
                  <a:fillRect l="-842" b="-666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3351D42-9674-A163-B0FB-B921D36C6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460" y="2972852"/>
            <a:ext cx="2259828" cy="7447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FCB30DDC-1ACE-7D71-6B2F-85390719B1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22742" y="3023395"/>
                <a:ext cx="6427509" cy="1291472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In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practice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US" sz="25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𝑳</m:t>
                    </m:r>
                    <m:r>
                      <a:rPr lang="es-US" sz="25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≥</m:t>
                    </m:r>
                    <m:sSub>
                      <m:sSubPr>
                        <m:ctrlPr>
                          <a:rPr lang="es-US" sz="25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5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5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, so </a:t>
                </a:r>
                <a14:m>
                  <m:oMath xmlns:m="http://schemas.openxmlformats.org/officeDocument/2006/math">
                    <m:r>
                      <a:rPr lang="es-US" sz="25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𝐒</m:t>
                    </m:r>
                  </m:oMath>
                </a14:m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is a rectangular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matrix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, and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thus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doesnt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have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US" sz="2500" b="1" err="1">
                    <a:latin typeface="Arial" panose="020B0604020202020204" pitchFamily="34" charset="0"/>
                    <a:cs typeface="Arial" panose="020B0604020202020204" pitchFamily="34" charset="0"/>
                  </a:rPr>
                  <a:t>classic</a:t>
                </a:r>
                <a:r>
                  <a:rPr lang="es-US" sz="2500" b="1">
                    <a:latin typeface="Arial" panose="020B0604020202020204" pitchFamily="34" charset="0"/>
                    <a:cs typeface="Arial" panose="020B0604020202020204" pitchFamily="34" charset="0"/>
                  </a:rPr>
                  <a:t> inverse</a:t>
                </a:r>
              </a:p>
              <a:p>
                <a:pPr algn="l"/>
                <a:endParaRPr lang="es-US" sz="28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FCB30DDC-1ACE-7D71-6B2F-85390719B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2742" y="3023395"/>
                <a:ext cx="6427509" cy="1291472"/>
              </a:xfrm>
              <a:prstGeom prst="rect">
                <a:avLst/>
              </a:prstGeom>
              <a:blipFill>
                <a:blip r:embed="rId5"/>
                <a:stretch>
                  <a:fillRect l="-1518" t="-20755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itle 1">
            <a:extLst>
              <a:ext uri="{FF2B5EF4-FFF2-40B4-BE49-F238E27FC236}">
                <a16:creationId xmlns:a16="http://schemas.microsoft.com/office/drawing/2014/main" id="{B3B17370-863A-299C-67C5-A32120E3F71E}"/>
              </a:ext>
            </a:extLst>
          </p:cNvPr>
          <p:cNvSpPr txBox="1">
            <a:spLocks/>
          </p:cNvSpPr>
          <p:nvPr/>
        </p:nvSpPr>
        <p:spPr>
          <a:xfrm>
            <a:off x="1134359" y="4721202"/>
            <a:ext cx="6642754" cy="12914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500" b="1" err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es-US" sz="2500" b="1">
                <a:latin typeface="Arial" panose="020B0604020202020204" pitchFamily="34" charset="0"/>
                <a:cs typeface="Arial" panose="020B0604020202020204" pitchFamily="34" charset="0"/>
              </a:rPr>
              <a:t> has </a:t>
            </a:r>
            <a:r>
              <a:rPr lang="es-US" sz="2500" b="1" err="1">
                <a:latin typeface="Arial" panose="020B0604020202020204" pitchFamily="34" charset="0"/>
                <a:cs typeface="Arial" panose="020B0604020202020204" pitchFamily="34" charset="0"/>
              </a:rPr>
              <a:t>instead</a:t>
            </a:r>
            <a:r>
              <a:rPr lang="es-US" sz="2500" b="1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US" sz="2500" b="1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s-US" sz="2500" b="1">
                <a:latin typeface="Arial" panose="020B0604020202020204" pitchFamily="34" charset="0"/>
                <a:cs typeface="Arial" panose="020B0604020202020204" pitchFamily="34" charset="0"/>
              </a:rPr>
              <a:t> a Moore-Penrose </a:t>
            </a:r>
            <a:r>
              <a:rPr lang="es-US" sz="2500" b="1" err="1">
                <a:latin typeface="Arial" panose="020B0604020202020204" pitchFamily="34" charset="0"/>
                <a:cs typeface="Arial" panose="020B0604020202020204" pitchFamily="34" charset="0"/>
              </a:rPr>
              <a:t>pseudo-inverse</a:t>
            </a:r>
            <a:endParaRPr lang="es-US" sz="25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s-US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D99010-25D8-03CD-9EF3-6242514C353F}"/>
              </a:ext>
            </a:extLst>
          </p:cNvPr>
          <p:cNvSpPr txBox="1"/>
          <p:nvPr/>
        </p:nvSpPr>
        <p:spPr>
          <a:xfrm>
            <a:off x="10001839" y="148876"/>
            <a:ext cx="28224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 b="1">
                <a:solidFill>
                  <a:srgbClr val="FF0000"/>
                </a:solidFill>
              </a:rPr>
              <a:t>Week: 27/02/2026 	</a:t>
            </a:r>
            <a:endParaRPr lang="es-US" sz="2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117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F0D7-C622-3041-872E-CC20E712D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C04D292F-3985-8EE6-3870-C442D68482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03695" y="64129"/>
                <a:ext cx="11698664" cy="836035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How do we obtain the clinical image from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US" sz="3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</m:oMath>
                </a14:m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 ? Part 1</a:t>
                </a: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C04D292F-3985-8EE6-3870-C442D6848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695" y="64129"/>
                <a:ext cx="11698664" cy="836035"/>
              </a:xfrm>
              <a:prstGeom prst="rect">
                <a:avLst/>
              </a:prstGeom>
              <a:blipFill>
                <a:blip r:embed="rId2"/>
                <a:stretch>
                  <a:fillRect r="-1511" b="-2627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43ACAFD8-32B1-EBC0-B448-F3A792C20D6E}"/>
              </a:ext>
            </a:extLst>
          </p:cNvPr>
          <p:cNvSpPr txBox="1">
            <a:spLocks/>
          </p:cNvSpPr>
          <p:nvPr/>
        </p:nvSpPr>
        <p:spPr>
          <a:xfrm>
            <a:off x="169683" y="543498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Firstly, we’re going to call the clinical data (not the image yet) as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2E8BFE-58D9-FE94-E16C-2B6BA472F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303" y="2042672"/>
            <a:ext cx="3391373" cy="64779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FB822B2-4069-B46D-1CA1-14009028E366}"/>
              </a:ext>
            </a:extLst>
          </p:cNvPr>
          <p:cNvSpPr txBox="1">
            <a:spLocks/>
          </p:cNvSpPr>
          <p:nvPr/>
        </p:nvSpPr>
        <p:spPr>
          <a:xfrm>
            <a:off x="1687398" y="1204543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We initialize that matrix with zeros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028DBB29-A5D4-F9D2-9A73-7053E98E7E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81" y="3169831"/>
                <a:ext cx="11783505" cy="138573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Then, we solve the pseudo-inverse for each aliased pixel </a:t>
                </a:r>
                <a14:m>
                  <m:oMath xmlns:m="http://schemas.openxmlformats.org/officeDocument/2006/math"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sub>
                    </m:sSub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Sup>
                      <m:sSubSupPr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  <m:sup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𝒂𝒍𝒊𝒂𝒔</m:t>
                        </m:r>
                      </m:sup>
                    </m:sSubSup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, obtaining </a:t>
                </a: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028DBB29-A5D4-F9D2-9A73-7053E98E7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1" y="3169831"/>
                <a:ext cx="11783505" cy="1385739"/>
              </a:xfrm>
              <a:prstGeom prst="rect">
                <a:avLst/>
              </a:prstGeom>
              <a:blipFill>
                <a:blip r:embed="rId4"/>
                <a:stretch>
                  <a:fillRect l="-983" b="-11894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31AF3D2F-A663-6AF3-F209-61E1EBD06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08" y="4706399"/>
            <a:ext cx="6384695" cy="1528111"/>
          </a:xfrm>
          <a:prstGeom prst="rect">
            <a:avLst/>
          </a:prstGeom>
        </p:spPr>
      </p:pic>
      <p:sp>
        <p:nvSpPr>
          <p:cNvPr id="24" name="Title 1">
            <a:extLst>
              <a:ext uri="{FF2B5EF4-FFF2-40B4-BE49-F238E27FC236}">
                <a16:creationId xmlns:a16="http://schemas.microsoft.com/office/drawing/2014/main" id="{CA199F05-2547-A6E8-9737-884D3816FE17}"/>
              </a:ext>
            </a:extLst>
          </p:cNvPr>
          <p:cNvSpPr txBox="1">
            <a:spLocks/>
          </p:cNvSpPr>
          <p:nvPr/>
        </p:nvSpPr>
        <p:spPr>
          <a:xfrm>
            <a:off x="9211558" y="4461145"/>
            <a:ext cx="2383411" cy="8107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Note that: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9BE014C-1B70-6D3F-8B41-4953308E2B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9965" y="5391605"/>
            <a:ext cx="2875004" cy="82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32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74846-1FC3-DAF4-D9B0-A920BD335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516848AB-3827-3A64-B4B7-B20CCCE47A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05354" y="-166740"/>
                <a:ext cx="11774079" cy="101301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How do we obtain the clinical image from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US" sz="3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</m:oMath>
                </a14:m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 ? Part 2</a:t>
                </a: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516848AB-3827-3A64-B4B7-B20CCCE47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5354" y="-166740"/>
                <a:ext cx="11774079" cy="1013010"/>
              </a:xfrm>
              <a:prstGeom prst="rect">
                <a:avLst/>
              </a:prstGeom>
              <a:blipFill>
                <a:blip r:embed="rId2"/>
                <a:stretch>
                  <a:fillRect r="-1502" b="-2168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7A27483D-5EF8-DC67-8699-F0D14215FD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9683" y="543498"/>
                <a:ext cx="10737130" cy="138573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Now, we’re going to calculate the “real” positions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7A27483D-5EF8-DC67-8699-F0D14215F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83" y="543498"/>
                <a:ext cx="10737130" cy="1385739"/>
              </a:xfrm>
              <a:prstGeom prst="rect">
                <a:avLst/>
              </a:prstGeom>
              <a:blipFill>
                <a:blip r:embed="rId3"/>
                <a:stretch>
                  <a:fillRect l="-1079" b="-8811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le 1">
            <a:extLst>
              <a:ext uri="{FF2B5EF4-FFF2-40B4-BE49-F238E27FC236}">
                <a16:creationId xmlns:a16="http://schemas.microsoft.com/office/drawing/2014/main" id="{FD8B6961-6DE8-3541-C841-7448F0F2A88C}"/>
              </a:ext>
            </a:extLst>
          </p:cNvPr>
          <p:cNvSpPr txBox="1">
            <a:spLocks/>
          </p:cNvSpPr>
          <p:nvPr/>
        </p:nvSpPr>
        <p:spPr>
          <a:xfrm>
            <a:off x="103695" y="3270540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Then we write into the output data 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47094C-5486-34EA-20F4-6FF603F36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5607" y="2180775"/>
            <a:ext cx="4512018" cy="8382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F86B78-75AE-668B-C784-F8270C2A9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211" y="4118037"/>
            <a:ext cx="8987029" cy="799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A4F77F6C-A4DE-81A1-46A9-2519989F64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3951" y="5328413"/>
                <a:ext cx="10228084" cy="98608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67500" lnSpcReduction="200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This means we are distributing the components of the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28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 vector in the rows that were folded.</a:t>
                </a:r>
              </a:p>
              <a:p>
                <a:pPr algn="l"/>
                <a:endParaRPr lang="es-US" sz="28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After finishing this sweep we obtain </a:t>
                </a:r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A4F77F6C-A4DE-81A1-46A9-2519989F64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51" y="5328413"/>
                <a:ext cx="10228084" cy="986089"/>
              </a:xfrm>
              <a:prstGeom prst="rect">
                <a:avLst/>
              </a:prstGeom>
              <a:blipFill>
                <a:blip r:embed="rId6"/>
                <a:stretch>
                  <a:fillRect l="-536" t="-3704" b="-10494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86FBEE6-66CC-076B-BD01-12B627121C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365" y="5951443"/>
            <a:ext cx="1900720" cy="363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C1B5D0-1BC8-C627-37C1-C0324D3C4C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0363" y="2295045"/>
            <a:ext cx="1900503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644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94AD-4C65-B07D-4595-D0485815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B754ADFE-D9CF-E0AB-3A4F-0B62FE6D7B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405353" y="24460"/>
                <a:ext cx="11764652" cy="876693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How do we obtain the clinical image from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US" sz="3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</m:oMath>
                </a14:m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 ? Part 3</a:t>
                </a: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B754ADFE-D9CF-E0AB-3A4F-0B62FE6D7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5353" y="24460"/>
                <a:ext cx="11764652" cy="876693"/>
              </a:xfrm>
              <a:prstGeom prst="rect">
                <a:avLst/>
              </a:prstGeom>
              <a:blipFill>
                <a:blip r:embed="rId2"/>
                <a:stretch>
                  <a:fillRect r="-1555" b="-2500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EF8E1993-8E1C-6438-F1BB-EA03CDE8671C}"/>
              </a:ext>
            </a:extLst>
          </p:cNvPr>
          <p:cNvSpPr txBox="1">
            <a:spLocks/>
          </p:cNvSpPr>
          <p:nvPr/>
        </p:nvSpPr>
        <p:spPr>
          <a:xfrm>
            <a:off x="169683" y="543498"/>
            <a:ext cx="10737130" cy="138573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Now, we simply compute the magnitude of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E2FB5D-AA69-1C6C-E805-DC67A2AFB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440" y="1373301"/>
            <a:ext cx="3391373" cy="647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0FA458-3AA3-94A3-94BF-DE6F24FBA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228" y="2639475"/>
            <a:ext cx="3848637" cy="7430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F627B00C-3E90-769A-0BFF-208FD20FE9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00278" y="2572655"/>
                <a:ext cx="6447935" cy="876693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With </a:t>
                </a:r>
                <a14:m>
                  <m:oMath xmlns:m="http://schemas.openxmlformats.org/officeDocument/2006/math"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sub>
                    </m:sSub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28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</m:sSub>
                    <m:r>
                      <a:rPr lang="es-US" sz="28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 being the desired clinical image</a:t>
                </a: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F627B00C-3E90-769A-0BFF-208FD20FE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0278" y="2572655"/>
                <a:ext cx="6447935" cy="876693"/>
              </a:xfrm>
              <a:prstGeom prst="rect">
                <a:avLst/>
              </a:prstGeom>
              <a:blipFill>
                <a:blip r:embed="rId5"/>
                <a:stretch>
                  <a:fillRect l="-1798" t="-9722" b="-18056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6AE4D23A-6A9B-4BAA-573E-57038149B2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256" y="3736499"/>
            <a:ext cx="2816358" cy="28163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FBD0D3-5F85-A2A4-A885-594FE5D0FF26}"/>
                  </a:ext>
                </a:extLst>
              </p:cNvPr>
              <p:cNvSpPr txBox="1"/>
              <p:nvPr/>
            </p:nvSpPr>
            <p:spPr>
              <a:xfrm>
                <a:off x="3940402" y="4731370"/>
                <a:ext cx="6297104" cy="6298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US" sz="32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𝑰</m:t>
                    </m:r>
                    <m:r>
                      <a:rPr lang="es-US" sz="32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[</m:t>
                    </m:r>
                    <m:sSub>
                      <m:sSubPr>
                        <m:ctrlP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𝒙</m:t>
                        </m:r>
                      </m:sub>
                    </m:sSub>
                    <m:r>
                      <a:rPr lang="es-US" sz="32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b>
                        <m:r>
                          <a:rPr lang="es-US" sz="32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𝒚</m:t>
                        </m:r>
                      </m:sub>
                    </m:sSub>
                    <m:r>
                      <a:rPr lang="es-US" sz="32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s-US" sz="3200" b="1">
                    <a:latin typeface="Arial" panose="020B0604020202020204" pitchFamily="34" charset="0"/>
                    <a:cs typeface="Arial" panose="020B0604020202020204" pitchFamily="34" charset="0"/>
                  </a:rPr>
                  <a:t> =</a:t>
                </a:r>
                <a:endParaRPr lang="es-US" sz="320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6FBD0D3-5F85-A2A4-A885-594FE5D0F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402" y="4731370"/>
                <a:ext cx="6297104" cy="629852"/>
              </a:xfrm>
              <a:prstGeom prst="rect">
                <a:avLst/>
              </a:prstGeom>
              <a:blipFill>
                <a:blip r:embed="rId7"/>
                <a:stretch>
                  <a:fillRect t="-13592" b="-23301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44920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7603-D3E3-C11A-FB8C-DB0CB9784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1847714-F18A-F445-C06F-72DEF2E10289}"/>
              </a:ext>
            </a:extLst>
          </p:cNvPr>
          <p:cNvSpPr txBox="1">
            <a:spLocks/>
          </p:cNvSpPr>
          <p:nvPr/>
        </p:nvSpPr>
        <p:spPr>
          <a:xfrm>
            <a:off x="169683" y="174575"/>
            <a:ext cx="11397006" cy="748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decompose the pseudo-inverse problem…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E2F8B5-872A-D1D7-C3ED-7245910DC472}"/>
              </a:ext>
            </a:extLst>
          </p:cNvPr>
          <p:cNvSpPr txBox="1">
            <a:spLocks/>
          </p:cNvSpPr>
          <p:nvPr/>
        </p:nvSpPr>
        <p:spPr>
          <a:xfrm>
            <a:off x="169683" y="970960"/>
            <a:ext cx="10859678" cy="6286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We said we have the following problem: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D6CC72-1A20-FA36-64EB-CBF59FAD0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753" y="1090502"/>
            <a:ext cx="2294083" cy="50912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EEABE1D-ABA7-A065-053C-4605B6CA38DF}"/>
              </a:ext>
            </a:extLst>
          </p:cNvPr>
          <p:cNvSpPr txBox="1">
            <a:spLocks/>
          </p:cNvSpPr>
          <p:nvPr/>
        </p:nvSpPr>
        <p:spPr>
          <a:xfrm>
            <a:off x="921621" y="2108748"/>
            <a:ext cx="9598691" cy="8976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We can define new variables and rewrite the problem in the standard linear system form: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1373F-3E41-43E5-9C88-65AB0AB70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8704" y="3174083"/>
            <a:ext cx="2953162" cy="6477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DCD8B6D-7E97-089E-7C2B-C084C6310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704" y="4217269"/>
            <a:ext cx="3019846" cy="6858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E21F1F-7F6E-F9C6-4298-BD1142F889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1220" y="3647947"/>
            <a:ext cx="2193089" cy="72609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8396B6EA-3FDE-37D9-158E-D86586C119EA}"/>
              </a:ext>
            </a:extLst>
          </p:cNvPr>
          <p:cNvSpPr/>
          <p:nvPr/>
        </p:nvSpPr>
        <p:spPr>
          <a:xfrm>
            <a:off x="4727606" y="3494684"/>
            <a:ext cx="1527142" cy="10180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46168B3-BECB-BF05-24E3-0A95136F08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1508" y="5238604"/>
            <a:ext cx="2531160" cy="68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72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12179-CFFE-5E0B-7B3D-424F12C35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6E44BA2A-7A25-8267-E41F-08FE80940980}"/>
              </a:ext>
            </a:extLst>
          </p:cNvPr>
          <p:cNvSpPr txBox="1">
            <a:spLocks/>
          </p:cNvSpPr>
          <p:nvPr/>
        </p:nvSpPr>
        <p:spPr>
          <a:xfrm>
            <a:off x="169683" y="174575"/>
            <a:ext cx="11397006" cy="748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As we defined earlier…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00A0AD-A46F-75E2-2F83-438454426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62" y="2766889"/>
            <a:ext cx="9011908" cy="17623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29D05D-B7CD-1D53-9ADA-AA978EA810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062" y="4868128"/>
            <a:ext cx="9011908" cy="16501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F7079F-C1B0-0CB1-1F39-6A229335D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435" y="1197045"/>
            <a:ext cx="2953162" cy="647790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3509F1BD-385B-C10B-296C-B2FAF6E43C83}"/>
              </a:ext>
            </a:extLst>
          </p:cNvPr>
          <p:cNvSpPr/>
          <p:nvPr/>
        </p:nvSpPr>
        <p:spPr>
          <a:xfrm rot="5400000">
            <a:off x="5833228" y="2023228"/>
            <a:ext cx="563644" cy="495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662916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E85FF-D1F2-ADF9-8431-AC26C478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5820BECD-EA7E-ADAD-24EA-CF7AD17EEB95}"/>
              </a:ext>
            </a:extLst>
          </p:cNvPr>
          <p:cNvSpPr txBox="1">
            <a:spLocks/>
          </p:cNvSpPr>
          <p:nvPr/>
        </p:nvSpPr>
        <p:spPr>
          <a:xfrm>
            <a:off x="169683" y="174575"/>
            <a:ext cx="11397006" cy="748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So the matrix A should be…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1D442AA-9523-EA39-4856-F1843A6F54BD}"/>
              </a:ext>
            </a:extLst>
          </p:cNvPr>
          <p:cNvSpPr txBox="1">
            <a:spLocks/>
          </p:cNvSpPr>
          <p:nvPr/>
        </p:nvSpPr>
        <p:spPr>
          <a:xfrm>
            <a:off x="0" y="4475696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Remember that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EC1B8A-1C72-D93F-2370-7A4F680F7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6932" y="4542975"/>
            <a:ext cx="4512018" cy="83822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71D4A48-8FB6-8265-8457-BE0D24313833}"/>
              </a:ext>
            </a:extLst>
          </p:cNvPr>
          <p:cNvSpPr txBox="1">
            <a:spLocks/>
          </p:cNvSpPr>
          <p:nvPr/>
        </p:nvSpPr>
        <p:spPr>
          <a:xfrm>
            <a:off x="7453117" y="4499099"/>
            <a:ext cx="1295400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79F7D0-A9B3-E52E-2D3B-456E7C873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049" y="4657245"/>
            <a:ext cx="1900503" cy="60968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5F52CA9-F56C-CA8D-E9B7-128CF77E7BC6}"/>
              </a:ext>
            </a:extLst>
          </p:cNvPr>
          <p:cNvSpPr txBox="1">
            <a:spLocks/>
          </p:cNvSpPr>
          <p:nvPr/>
        </p:nvSpPr>
        <p:spPr>
          <a:xfrm>
            <a:off x="169683" y="5700850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This is the first matrix we must compute on the FPGA as part of the SENSE reconstruction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A40FEA-7BE0-E5FB-63E3-E7196E174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7962"/>
            <a:ext cx="12192000" cy="2767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13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6496-4B69-7455-79E7-EF6CECA6F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3CF852A-2D76-7498-CF6E-4A9D66C03911}"/>
              </a:ext>
            </a:extLst>
          </p:cNvPr>
          <p:cNvSpPr txBox="1">
            <a:spLocks/>
          </p:cNvSpPr>
          <p:nvPr/>
        </p:nvSpPr>
        <p:spPr>
          <a:xfrm>
            <a:off x="169683" y="174575"/>
            <a:ext cx="11397006" cy="748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As we defined earlier…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47720F-9462-77AA-1DEF-326DF78A6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46" y="2813085"/>
            <a:ext cx="9011908" cy="1650196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E2BA96BD-ECFB-A660-4A1C-E75C67206E66}"/>
              </a:ext>
            </a:extLst>
          </p:cNvPr>
          <p:cNvSpPr/>
          <p:nvPr/>
        </p:nvSpPr>
        <p:spPr>
          <a:xfrm rot="5400000">
            <a:off x="5833228" y="2023228"/>
            <a:ext cx="563644" cy="4953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621C62-FE22-30C9-C4C7-385339A44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077" y="1112971"/>
            <a:ext cx="3019846" cy="6858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BCE811-8D58-33A8-1915-4387F9A78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002" y="4896056"/>
            <a:ext cx="4810796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1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80591-F98E-0814-FB08-806DB165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1CAE09C3-5052-184A-DB47-624EC8F786B0}"/>
              </a:ext>
            </a:extLst>
          </p:cNvPr>
          <p:cNvSpPr txBox="1">
            <a:spLocks/>
          </p:cNvSpPr>
          <p:nvPr/>
        </p:nvSpPr>
        <p:spPr>
          <a:xfrm>
            <a:off x="169683" y="174575"/>
            <a:ext cx="11397006" cy="748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So the matrix b should be…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56ED20B-2795-32F9-26EA-F8C5649425D4}"/>
              </a:ext>
            </a:extLst>
          </p:cNvPr>
          <p:cNvSpPr txBox="1">
            <a:spLocks/>
          </p:cNvSpPr>
          <p:nvPr/>
        </p:nvSpPr>
        <p:spPr>
          <a:xfrm>
            <a:off x="0" y="4475696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Again, remember that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75EA355-A639-F8F2-D1EC-20557E4D3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291" y="4562777"/>
            <a:ext cx="4512018" cy="83822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604AB0B4-45AD-95D0-D0A9-EF1C2AB66D3B}"/>
              </a:ext>
            </a:extLst>
          </p:cNvPr>
          <p:cNvSpPr txBox="1">
            <a:spLocks/>
          </p:cNvSpPr>
          <p:nvPr/>
        </p:nvSpPr>
        <p:spPr>
          <a:xfrm>
            <a:off x="8631468" y="4522929"/>
            <a:ext cx="1295400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1572A3-8C15-F2B5-53AC-C0E77658C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680" y="4677049"/>
            <a:ext cx="1900503" cy="60968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0542F68-49B4-4E27-C7CF-F90EC0F95A8B}"/>
              </a:ext>
            </a:extLst>
          </p:cNvPr>
          <p:cNvSpPr txBox="1">
            <a:spLocks/>
          </p:cNvSpPr>
          <p:nvPr/>
        </p:nvSpPr>
        <p:spPr>
          <a:xfrm>
            <a:off x="169683" y="5700850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This is the second matrix we must compute on the FPGA as part of the SENSE reconstruction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0075AB-505B-7DCA-B0F5-8CA2C0C8C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3863" y="950025"/>
            <a:ext cx="7220958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73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F1ECB-BBEC-BCBF-1C7C-2EF72A448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5F869CD1-E1C1-1AD2-7AD1-F699C7C657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0829" y="386498"/>
                <a:ext cx="11613822" cy="669303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75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3600" b="1">
                    <a:latin typeface="Arial" panose="020B0604020202020204" pitchFamily="34" charset="0"/>
                    <a:cs typeface="Arial" panose="020B0604020202020204" pitchFamily="34" charset="0"/>
                  </a:rPr>
                  <a:t>Choosing the optimal method for solving </a:t>
                </a:r>
                <a14:m>
                  <m:oMath xmlns:m="http://schemas.openxmlformats.org/officeDocument/2006/math">
                    <m:r>
                      <a:rPr lang="es-US" sz="36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  <m:acc>
                      <m:accPr>
                        <m:chr m:val="̂"/>
                        <m:ctrlPr>
                          <a:rPr lang="es-US" sz="36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36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  <m:r>
                      <a:rPr lang="es-US" sz="36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36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𝐛</m:t>
                    </m:r>
                  </m:oMath>
                </a14:m>
                <a:endParaRPr lang="es-US" sz="36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5F869CD1-E1C1-1AD2-7AD1-F699C7C65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29" y="386498"/>
                <a:ext cx="11613822" cy="669303"/>
              </a:xfrm>
              <a:prstGeom prst="rect">
                <a:avLst/>
              </a:prstGeom>
              <a:blipFill>
                <a:blip r:embed="rId2"/>
                <a:stretch>
                  <a:fillRect l="-1575" t="-8182" b="-3272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E19CE623-A33D-C76B-8DA8-76B4CA8C6461}"/>
              </a:ext>
            </a:extLst>
          </p:cNvPr>
          <p:cNvSpPr txBox="1">
            <a:spLocks/>
          </p:cNvSpPr>
          <p:nvPr/>
        </p:nvSpPr>
        <p:spPr>
          <a:xfrm>
            <a:off x="267093" y="1055801"/>
            <a:ext cx="11497558" cy="749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First, we list a couple of characteristics: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977C87-8013-3BD7-17B1-D2E1D5747388}"/>
                  </a:ext>
                </a:extLst>
              </p:cNvPr>
              <p:cNvSpPr txBox="1"/>
              <p:nvPr/>
            </p:nvSpPr>
            <p:spPr>
              <a:xfrm>
                <a:off x="1398309" y="2009423"/>
                <a:ext cx="9235126" cy="1022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s-US" sz="18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is a Hermitian positive definite matrix (HPD), which means it’s a square matrix of complex elements with the characteristics of being the same complex transpose: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US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US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𝒂</m:t>
                          </m:r>
                        </m:e>
                        <m:sub>
                          <m:r>
                            <a:rPr lang="es-US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𝐢</m:t>
                          </m:r>
                          <m:r>
                            <a:rPr lang="es-US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s-US" b="1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𝐣</m:t>
                          </m:r>
                        </m:sub>
                      </m:sSub>
                      <m:r>
                        <a:rPr lang="es-US" b="1" i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 </m:t>
                      </m:r>
                      <m:bar>
                        <m:barPr>
                          <m:pos m:val="top"/>
                          <m:ctrlPr>
                            <a:rPr lang="es-US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barPr>
                        <m:e>
                          <m:sSub>
                            <m:sSubPr>
                              <m:ctrlPr>
                                <a:rPr lang="es-US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s-US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s-US" b="1" i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𝐣</m:t>
                              </m:r>
                              <m:r>
                                <a:rPr lang="es-US" b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s-US" b="1" i="1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𝒊</m:t>
                              </m:r>
                            </m:sub>
                          </m:sSub>
                        </m:e>
                      </m:bar>
                      <m:r>
                        <a:rPr lang="es-US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 </m:t>
                      </m:r>
                      <m:r>
                        <a:rPr lang="es-US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𝒐𝒓</m:t>
                      </m:r>
                      <m:r>
                        <a:rPr lang="es-US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    </m:t>
                      </m:r>
                      <m:r>
                        <a:rPr lang="es-US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𝑨</m:t>
                      </m:r>
                      <m:r>
                        <a:rPr lang="es-US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sSup>
                        <m:sSupPr>
                          <m:ctrlPr>
                            <a:rPr lang="es-US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US" b="1" i="1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US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US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𝑨</m:t>
                                  </m:r>
                                </m:e>
                                <m:sup>
                                  <m:r>
                                    <a:rPr lang="es-US" b="1" i="1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s-US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9977C87-8013-3BD7-17B1-D2E1D5747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309" y="2009423"/>
                <a:ext cx="9235126" cy="1022396"/>
              </a:xfrm>
              <a:prstGeom prst="rect">
                <a:avLst/>
              </a:prstGeom>
              <a:blipFill>
                <a:blip r:embed="rId3"/>
                <a:stretch>
                  <a:fillRect l="-528" t="-3593" r="-66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Arrow: Right 9">
            <a:extLst>
              <a:ext uri="{FF2B5EF4-FFF2-40B4-BE49-F238E27FC236}">
                <a16:creationId xmlns:a16="http://schemas.microsoft.com/office/drawing/2014/main" id="{82566B55-5B81-6D33-A920-B811CFA8183B}"/>
              </a:ext>
            </a:extLst>
          </p:cNvPr>
          <p:cNvSpPr/>
          <p:nvPr/>
        </p:nvSpPr>
        <p:spPr>
          <a:xfrm>
            <a:off x="659876" y="2218963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106550-7E44-24A2-D7FF-C33842A2D1DB}"/>
                  </a:ext>
                </a:extLst>
              </p:cNvPr>
              <p:cNvSpPr txBox="1"/>
              <p:nvPr/>
            </p:nvSpPr>
            <p:spPr>
              <a:xfrm>
                <a:off x="1340177" y="3161064"/>
                <a:ext cx="9235126" cy="39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We have a small system: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×</m:t>
                    </m:r>
                    <m:sSub>
                      <m:sSubPr>
                        <m:ctrlP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</m:oMath>
                </a14:m>
                <a:endParaRPr lang="es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0106550-7E44-24A2-D7FF-C33842A2D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177" y="3161064"/>
                <a:ext cx="9235126" cy="395558"/>
              </a:xfrm>
              <a:prstGeom prst="rect">
                <a:avLst/>
              </a:prstGeom>
              <a:blipFill>
                <a:blip r:embed="rId4"/>
                <a:stretch>
                  <a:fillRect l="-594" t="-9375" b="-1875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Arrow: Right 11">
            <a:extLst>
              <a:ext uri="{FF2B5EF4-FFF2-40B4-BE49-F238E27FC236}">
                <a16:creationId xmlns:a16="http://schemas.microsoft.com/office/drawing/2014/main" id="{C8318555-2D1F-C2C8-1EFF-03BC787CE809}"/>
              </a:ext>
            </a:extLst>
          </p:cNvPr>
          <p:cNvSpPr/>
          <p:nvPr/>
        </p:nvSpPr>
        <p:spPr>
          <a:xfrm>
            <a:off x="659876" y="3208014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3C00E6A-AE77-57AF-20A2-644CC9385F84}"/>
              </a:ext>
            </a:extLst>
          </p:cNvPr>
          <p:cNvSpPr/>
          <p:nvPr/>
        </p:nvSpPr>
        <p:spPr>
          <a:xfrm>
            <a:off x="659876" y="4197065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EE1AE-F0F7-C58C-C71C-824268E4CD08}"/>
                  </a:ext>
                </a:extLst>
              </p:cNvPr>
              <p:cNvSpPr txBox="1"/>
              <p:nvPr/>
            </p:nvSpPr>
            <p:spPr>
              <a:xfrm>
                <a:off x="1398309" y="4175049"/>
                <a:ext cx="92351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We have only one </a:t>
                </a:r>
                <a14:m>
                  <m:oMath xmlns:m="http://schemas.openxmlformats.org/officeDocument/2006/math">
                    <m:r>
                      <a:rPr lang="es-US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𝐛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columna vector per system (right-hand-side)</a:t>
                </a:r>
                <a:endParaRPr lang="es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8EE1AE-F0F7-C58C-C71C-824268E4C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8309" y="4175049"/>
                <a:ext cx="9235126" cy="369332"/>
              </a:xfrm>
              <a:prstGeom prst="rect">
                <a:avLst/>
              </a:prstGeom>
              <a:blipFill>
                <a:blip r:embed="rId5"/>
                <a:stretch>
                  <a:fillRect l="-528" t="-10000" b="-2666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BCAB1094-8C60-7508-C17C-653A64501E32}"/>
              </a:ext>
            </a:extLst>
          </p:cNvPr>
          <p:cNvSpPr/>
          <p:nvPr/>
        </p:nvSpPr>
        <p:spPr>
          <a:xfrm>
            <a:off x="659876" y="5241520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632751-A8CD-52CB-8611-DBECD347A5B9}"/>
              </a:ext>
            </a:extLst>
          </p:cNvPr>
          <p:cNvSpPr txBox="1"/>
          <p:nvPr/>
        </p:nvSpPr>
        <p:spPr>
          <a:xfrm>
            <a:off x="1398309" y="5069184"/>
            <a:ext cx="92351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We will normalize S and y so that we can represent them using complex fixed-point with only 1 integer bit</a:t>
            </a:r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393919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7D672-EA5A-99D0-2268-D8D8C14A1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00D4DF14-52DA-71A3-F169-4FEABB0DA501}"/>
              </a:ext>
            </a:extLst>
          </p:cNvPr>
          <p:cNvSpPr txBox="1">
            <a:spLocks/>
          </p:cNvSpPr>
          <p:nvPr/>
        </p:nvSpPr>
        <p:spPr>
          <a:xfrm>
            <a:off x="150829" y="386498"/>
            <a:ext cx="11613822" cy="6693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Gauss elimination…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FA5F8049-1E01-90E5-F437-0F26838603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7093" y="1205978"/>
                <a:ext cx="11497558" cy="749252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0000" lnSpcReduction="100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Consisting in applying forward elimination over </a:t>
                </a:r>
                <a14:m>
                  <m:oMath xmlns:m="http://schemas.openxmlformats.org/officeDocument/2006/math">
                    <m:r>
                      <a:rPr lang="es-US" sz="2800" b="1" i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, followed by backwards sustitution directly over the system</a:t>
                </a:r>
                <a:r>
                  <a:rPr lang="es-US" sz="2800" b="1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  <m:acc>
                      <m:accPr>
                        <m:chr m:val="̂"/>
                        <m:ctrlPr>
                          <a:rPr lang="es-US" sz="28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2800" b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𝐛</m:t>
                    </m:r>
                  </m:oMath>
                </a14:m>
                <a:endParaRPr lang="es-US" sz="28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FA5F8049-1E01-90E5-F437-0F2683860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93" y="1205978"/>
                <a:ext cx="11497558" cy="749252"/>
              </a:xfrm>
              <a:prstGeom prst="rect">
                <a:avLst/>
              </a:prstGeom>
              <a:blipFill>
                <a:blip r:embed="rId2"/>
                <a:stretch>
                  <a:fillRect l="-901" t="-13008" r="-106" b="-16260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C6C8D069-D473-75D6-0834-466791D21D8A}"/>
              </a:ext>
            </a:extLst>
          </p:cNvPr>
          <p:cNvSpPr/>
          <p:nvPr/>
        </p:nvSpPr>
        <p:spPr>
          <a:xfrm>
            <a:off x="424207" y="2461949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0C2DBA8F-6D09-62D9-C542-D2EED19D03BB}"/>
              </a:ext>
            </a:extLst>
          </p:cNvPr>
          <p:cNvSpPr/>
          <p:nvPr/>
        </p:nvSpPr>
        <p:spPr>
          <a:xfrm>
            <a:off x="424207" y="3270326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A37798-D390-0211-7074-A2F2070AA6D1}"/>
                  </a:ext>
                </a:extLst>
              </p:cNvPr>
              <p:cNvSpPr txBox="1"/>
              <p:nvPr/>
            </p:nvSpPr>
            <p:spPr>
              <a:xfrm>
                <a:off x="1153212" y="3233379"/>
                <a:ext cx="5568099" cy="39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𝒏</m:t>
                    </m:r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s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s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𝟒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it’s pretty cheap in absolute terms</a:t>
                </a:r>
                <a:endParaRPr lang="es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9A37798-D390-0211-7074-A2F2070AA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212" y="3233379"/>
                <a:ext cx="5568099" cy="395558"/>
              </a:xfrm>
              <a:prstGeom prst="rect">
                <a:avLst/>
              </a:prstGeom>
              <a:blipFill>
                <a:blip r:embed="rId3"/>
                <a:stretch>
                  <a:fillRect l="-875" t="-7692" r="-875" b="-1692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6D0CF5B5-B00A-99D5-5957-BC902C19A547}"/>
              </a:ext>
            </a:extLst>
          </p:cNvPr>
          <p:cNvSpPr/>
          <p:nvPr/>
        </p:nvSpPr>
        <p:spPr>
          <a:xfrm>
            <a:off x="424207" y="5418961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B84E8F-044A-70A1-C438-A9E442F2B5B7}"/>
              </a:ext>
            </a:extLst>
          </p:cNvPr>
          <p:cNvSpPr txBox="1"/>
          <p:nvPr/>
        </p:nvSpPr>
        <p:spPr>
          <a:xfrm>
            <a:off x="1058945" y="5385124"/>
            <a:ext cx="789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We do not exploit the HPD structure !!</a:t>
            </a:r>
            <a:endParaRPr lang="es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79FE60C-3917-3EAF-DB01-DE455D68C945}"/>
              </a:ext>
            </a:extLst>
          </p:cNvPr>
          <p:cNvSpPr/>
          <p:nvPr/>
        </p:nvSpPr>
        <p:spPr>
          <a:xfrm>
            <a:off x="424207" y="3913335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061CB7-0002-97CB-8EF4-074DE88D24B6}"/>
              </a:ext>
            </a:extLst>
          </p:cNvPr>
          <p:cNvSpPr txBox="1"/>
          <p:nvPr/>
        </p:nvSpPr>
        <p:spPr>
          <a:xfrm>
            <a:off x="1058945" y="3876388"/>
            <a:ext cx="8565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Without pivoting it could be pretty unstable in fixed point operations</a:t>
            </a:r>
            <a:endParaRPr lang="es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30F98E6-833F-857A-3561-D9B6CDC1AF45}"/>
              </a:ext>
            </a:extLst>
          </p:cNvPr>
          <p:cNvSpPr/>
          <p:nvPr/>
        </p:nvSpPr>
        <p:spPr>
          <a:xfrm>
            <a:off x="424207" y="4594396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2A3054-3260-7277-D368-69D3F6C03939}"/>
              </a:ext>
            </a:extLst>
          </p:cNvPr>
          <p:cNvSpPr txBox="1"/>
          <p:nvPr/>
        </p:nvSpPr>
        <p:spPr>
          <a:xfrm>
            <a:off x="1153212" y="4557052"/>
            <a:ext cx="8565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With partial pivoting we got better stability, but with the complex hardware logic trade-off </a:t>
            </a:r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8A2E4A-38F6-994F-D491-4429C8A99B0C}"/>
                  </a:ext>
                </a:extLst>
              </p:cNvPr>
              <p:cNvSpPr txBox="1"/>
              <p:nvPr/>
            </p:nvSpPr>
            <p:spPr>
              <a:xfrm>
                <a:off x="1253766" y="2168582"/>
                <a:ext cx="8465268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The complexity of the algorithm is </a:t>
                </a:r>
                <a14:m>
                  <m:oMath xmlns:m="http://schemas.openxmlformats.org/officeDocument/2006/math"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den>
                        </m:f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FLOPs for the elimination pase and </a:t>
                </a:r>
                <a14:m>
                  <m:oMath xmlns:m="http://schemas.openxmlformats.org/officeDocument/2006/math"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 for the two triangular substitutions</a:t>
                </a:r>
                <a:endParaRPr lang="es-US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8A2E4A-38F6-994F-D491-4429C8A99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766" y="2168582"/>
                <a:ext cx="8465268" cy="769441"/>
              </a:xfrm>
              <a:prstGeom prst="rect">
                <a:avLst/>
              </a:prstGeom>
              <a:blipFill>
                <a:blip r:embed="rId4"/>
                <a:stretch>
                  <a:fillRect l="-648" b="-12698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6934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BC37D-BFA3-0C03-9230-AA61D327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FB7719A-D514-4722-3713-7D9E590C69CD}"/>
              </a:ext>
            </a:extLst>
          </p:cNvPr>
          <p:cNvSpPr txBox="1">
            <a:spLocks/>
          </p:cNvSpPr>
          <p:nvPr/>
        </p:nvSpPr>
        <p:spPr>
          <a:xfrm>
            <a:off x="150829" y="386498"/>
            <a:ext cx="11613822" cy="6693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LU decomposition…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9D173326-DD48-5DA8-C16B-EEC6D2E4C8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6520" y="1205978"/>
                <a:ext cx="11497558" cy="749252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 fontScale="90000" lnSpcReduction="10000"/>
              </a:bodyPr>
              <a:lstStyle>
                <a:defPPr>
                  <a:defRPr lang="es-ES"/>
                </a:defPPr>
                <a:lvl1pPr algn="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lang="es-ES" sz="4800" kern="1200">
                    <a:solidFill>
                      <a:schemeClr val="tx1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Consisting in factorizing</a:t>
                </a:r>
                <a:r>
                  <a:rPr lang="es-US" sz="2800" b="1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28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𝐋𝐔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, with </a:t>
                </a:r>
                <a14:m>
                  <m:oMath xmlns:m="http://schemas.openxmlformats.org/officeDocument/2006/math"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𝐋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 the lower triangular matrix and </a:t>
                </a:r>
                <a14:m>
                  <m:oMath xmlns:m="http://schemas.openxmlformats.org/officeDocument/2006/math">
                    <m:r>
                      <a:rPr lang="es-US" sz="2800" b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𝐔</m:t>
                    </m:r>
                  </m:oMath>
                </a14:m>
                <a:r>
                  <a:rPr lang="es-US" sz="2800" b="1">
                    <a:latin typeface="Arial" panose="020B0604020202020204" pitchFamily="34" charset="0"/>
                    <a:cs typeface="Arial" panose="020B0604020202020204" pitchFamily="34" charset="0"/>
                  </a:rPr>
                  <a:t> the upper triangular matrix </a:t>
                </a: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9D173326-DD48-5DA8-C16B-EEC6D2E4C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20" y="1205978"/>
                <a:ext cx="11497558" cy="749252"/>
              </a:xfrm>
              <a:prstGeom prst="rect">
                <a:avLst/>
              </a:prstGeom>
              <a:blipFill>
                <a:blip r:embed="rId2"/>
                <a:stretch>
                  <a:fillRect l="-848" t="-11382" b="-1951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Arrow: Right 14">
            <a:extLst>
              <a:ext uri="{FF2B5EF4-FFF2-40B4-BE49-F238E27FC236}">
                <a16:creationId xmlns:a16="http://schemas.microsoft.com/office/drawing/2014/main" id="{8FBC5C84-1D32-9304-6780-25D45F01CBF6}"/>
              </a:ext>
            </a:extLst>
          </p:cNvPr>
          <p:cNvSpPr/>
          <p:nvPr/>
        </p:nvSpPr>
        <p:spPr>
          <a:xfrm>
            <a:off x="452486" y="4016571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83574A-614F-9C8B-3DE9-191704C72FB0}"/>
                  </a:ext>
                </a:extLst>
              </p:cNvPr>
              <p:cNvSpPr txBox="1"/>
              <p:nvPr/>
            </p:nvSpPr>
            <p:spPr>
              <a:xfrm>
                <a:off x="1087224" y="3900068"/>
                <a:ext cx="893346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The complexity of the algorithm is </a:t>
                </a:r>
                <a14:m>
                  <m:oMath xmlns:m="http://schemas.openxmlformats.org/officeDocument/2006/math"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den>
                        </m:f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FLOPs and </a:t>
                </a:r>
                <a14:m>
                  <m:oMath xmlns:m="http://schemas.openxmlformats.org/officeDocument/2006/math"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 for sustitutions (same as GE)</a:t>
                </a:r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D83574A-614F-9C8B-3DE9-191704C72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224" y="3900068"/>
                <a:ext cx="8933469" cy="769441"/>
              </a:xfrm>
              <a:prstGeom prst="rect">
                <a:avLst/>
              </a:prstGeom>
              <a:blipFill>
                <a:blip r:embed="rId3"/>
                <a:stretch>
                  <a:fillRect l="-546" b="-11905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B5857A86-63B0-FB69-4E74-961BA5E22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812" y="2470385"/>
            <a:ext cx="1190791" cy="457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EB78FC-A867-E14F-B077-29E5F28A8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5096" y="2140343"/>
            <a:ext cx="6085676" cy="1117347"/>
          </a:xfrm>
          <a:prstGeom prst="rect">
            <a:avLst/>
          </a:prstGeom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2D9D2218-0B6B-ED2F-B4ED-75DE1EBE54B4}"/>
              </a:ext>
            </a:extLst>
          </p:cNvPr>
          <p:cNvSpPr/>
          <p:nvPr/>
        </p:nvSpPr>
        <p:spPr>
          <a:xfrm>
            <a:off x="452486" y="4916000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1B8AA6-0F49-C9A7-C299-48080996F2E0}"/>
              </a:ext>
            </a:extLst>
          </p:cNvPr>
          <p:cNvSpPr txBox="1"/>
          <p:nvPr/>
        </p:nvSpPr>
        <p:spPr>
          <a:xfrm>
            <a:off x="1153213" y="4882163"/>
            <a:ext cx="789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Again, we do not exploit the HPD structure !!</a:t>
            </a:r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4919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35B97-3BC5-CF91-2DBA-BCBD1CE9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B8FCD37-30F3-0A91-1843-35F433B16CFC}"/>
              </a:ext>
            </a:extLst>
          </p:cNvPr>
          <p:cNvSpPr txBox="1">
            <a:spLocks/>
          </p:cNvSpPr>
          <p:nvPr/>
        </p:nvSpPr>
        <p:spPr>
          <a:xfrm>
            <a:off x="150829" y="386498"/>
            <a:ext cx="11613822" cy="66930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Cholesky…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A79F4E0-DFD1-FC2C-1F06-E3D7CF754CB7}"/>
              </a:ext>
            </a:extLst>
          </p:cNvPr>
          <p:cNvSpPr txBox="1">
            <a:spLocks/>
          </p:cNvSpPr>
          <p:nvPr/>
        </p:nvSpPr>
        <p:spPr>
          <a:xfrm>
            <a:off x="276520" y="1205978"/>
            <a:ext cx="11497558" cy="749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In Cholesky decomposition, we have that for Hermitian positive matrices: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1CE2A6E-3FAD-2316-F0A8-752CA84CB3D4}"/>
              </a:ext>
            </a:extLst>
          </p:cNvPr>
          <p:cNvSpPr/>
          <p:nvPr/>
        </p:nvSpPr>
        <p:spPr>
          <a:xfrm>
            <a:off x="452486" y="3379907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9778B5-EC72-5A9B-C44E-7B85F6B08C1E}"/>
                  </a:ext>
                </a:extLst>
              </p:cNvPr>
              <p:cNvSpPr txBox="1"/>
              <p:nvPr/>
            </p:nvSpPr>
            <p:spPr>
              <a:xfrm>
                <a:off x="1247476" y="3178271"/>
                <a:ext cx="8933469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The complexity of the algorithm is </a:t>
                </a:r>
                <a14:m>
                  <m:oMath xmlns:m="http://schemas.openxmlformats.org/officeDocument/2006/math"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s-US" b="1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𝟑</m:t>
                            </m:r>
                          </m:den>
                        </m:f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𝟑</m:t>
                        </m:r>
                      </m:sup>
                    </m:sSup>
                    <m:r>
                      <a:rPr lang="es-US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for</a:t>
                </a:r>
                <a:r>
                  <a:rPr lang="es-US"/>
                  <a:t> </a:t>
                </a:r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FLOPs and </a:t>
                </a:r>
                <a14:m>
                  <m:oMath xmlns:m="http://schemas.openxmlformats.org/officeDocument/2006/math"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𝑶</m:t>
                    </m:r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p>
                      <m:sSupPr>
                        <m:ctrlP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s-US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𝒏</m:t>
                        </m:r>
                      </m:e>
                      <m:sup>
                        <m:r>
                          <a:rPr lang="es-US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𝟐</m:t>
                        </m:r>
                      </m:sup>
                    </m:sSup>
                    <m:r>
                      <a:rPr lang="es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s-US" b="1">
                    <a:latin typeface="Arial" panose="020B0604020202020204" pitchFamily="34" charset="0"/>
                    <a:cs typeface="Arial" panose="020B0604020202020204" pitchFamily="34" charset="0"/>
                  </a:rPr>
                  <a:t> for sustitutions (half of GE and LU)</a:t>
                </a:r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9778B5-EC72-5A9B-C44E-7B85F6B08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7476" y="3178271"/>
                <a:ext cx="8933469" cy="769441"/>
              </a:xfrm>
              <a:prstGeom prst="rect">
                <a:avLst/>
              </a:prstGeom>
              <a:blipFill>
                <a:blip r:embed="rId2"/>
                <a:stretch>
                  <a:fillRect l="-614" b="-11024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Right 12">
            <a:extLst>
              <a:ext uri="{FF2B5EF4-FFF2-40B4-BE49-F238E27FC236}">
                <a16:creationId xmlns:a16="http://schemas.microsoft.com/office/drawing/2014/main" id="{449813B7-FCFF-29F7-66CD-43B3992556C2}"/>
              </a:ext>
            </a:extLst>
          </p:cNvPr>
          <p:cNvSpPr/>
          <p:nvPr/>
        </p:nvSpPr>
        <p:spPr>
          <a:xfrm>
            <a:off x="452486" y="4278847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C322B3-32F7-BDBB-C4A5-E7CB9570D31D}"/>
              </a:ext>
            </a:extLst>
          </p:cNvPr>
          <p:cNvSpPr txBox="1"/>
          <p:nvPr/>
        </p:nvSpPr>
        <p:spPr>
          <a:xfrm>
            <a:off x="1247477" y="4125344"/>
            <a:ext cx="104040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For Hermitian positive matrixes, Cholesky is very stable even with fixed point arithmetic. But we gotta be carefoul in rounding that A is always Hermitian positive</a:t>
            </a:r>
            <a:endParaRPr lang="es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ED049-1245-8C9D-B668-5F5A058CB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369" y="2257585"/>
            <a:ext cx="3886742" cy="743054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8B64D1B0-4DA2-266B-C573-013CA6C3EC7E}"/>
              </a:ext>
            </a:extLst>
          </p:cNvPr>
          <p:cNvSpPr/>
          <p:nvPr/>
        </p:nvSpPr>
        <p:spPr>
          <a:xfrm>
            <a:off x="439916" y="5060259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7D617-411C-0CB8-90F8-25DDF5042AF5}"/>
              </a:ext>
            </a:extLst>
          </p:cNvPr>
          <p:cNvSpPr txBox="1"/>
          <p:nvPr/>
        </p:nvSpPr>
        <p:spPr>
          <a:xfrm>
            <a:off x="1247476" y="5020617"/>
            <a:ext cx="10404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We do not need pivoting; HPD guarantees positive diagonal elements during factorization</a:t>
            </a:r>
            <a:endParaRPr lang="es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D98ED2A4-7918-A796-B86D-9AA9AEA79D58}"/>
              </a:ext>
            </a:extLst>
          </p:cNvPr>
          <p:cNvSpPr/>
          <p:nvPr/>
        </p:nvSpPr>
        <p:spPr>
          <a:xfrm>
            <a:off x="452486" y="5652022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D33989-418A-2536-4603-19A70E1B9790}"/>
              </a:ext>
            </a:extLst>
          </p:cNvPr>
          <p:cNvSpPr txBox="1"/>
          <p:nvPr/>
        </p:nvSpPr>
        <p:spPr>
          <a:xfrm>
            <a:off x="1247476" y="5645968"/>
            <a:ext cx="10404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We only needs to store half of the A matrix; upper or lower triangular</a:t>
            </a:r>
            <a:endParaRPr lang="es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750FFD-C87A-3928-8D0A-C740AAC65C59}"/>
              </a:ext>
            </a:extLst>
          </p:cNvPr>
          <p:cNvSpPr txBox="1"/>
          <p:nvPr/>
        </p:nvSpPr>
        <p:spPr>
          <a:xfrm>
            <a:off x="1247478" y="6296326"/>
            <a:ext cx="10404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Hermitian symmetry allows us to reuse many terms</a:t>
            </a:r>
            <a:endParaRPr lang="es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4F09609-2E7D-B226-F00C-4B51F6DA4D32}"/>
              </a:ext>
            </a:extLst>
          </p:cNvPr>
          <p:cNvSpPr/>
          <p:nvPr/>
        </p:nvSpPr>
        <p:spPr>
          <a:xfrm>
            <a:off x="452486" y="6335272"/>
            <a:ext cx="634738" cy="3016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1074036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29785-660E-615F-D6A6-35701DE35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34BC3FF-C830-5D8A-6AA0-92AEF9C7CDDC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go back to the pixel-wise operations…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7C537B-00DC-62C5-A2EA-91D039C6399D}"/>
              </a:ext>
            </a:extLst>
          </p:cNvPr>
          <p:cNvSpPr txBox="1"/>
          <p:nvPr/>
        </p:nvSpPr>
        <p:spPr>
          <a:xfrm>
            <a:off x="370783" y="944118"/>
            <a:ext cx="8933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Before computing the solution to the matrix system, we’re going to find the A and b matrixes in the FPGA as follows</a:t>
            </a:r>
            <a:endParaRPr lang="es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B11A8C-DD50-F45C-262E-D33961A01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779" y="1984544"/>
            <a:ext cx="9047566" cy="2299886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61030D1A-459C-EE5E-AE56-3C635C98F767}"/>
              </a:ext>
            </a:extLst>
          </p:cNvPr>
          <p:cNvSpPr txBox="1">
            <a:spLocks/>
          </p:cNvSpPr>
          <p:nvPr/>
        </p:nvSpPr>
        <p:spPr>
          <a:xfrm>
            <a:off x="72334" y="4678525"/>
            <a:ext cx="10228084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Again, remember that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8CB9B05-A13E-AC52-C579-6D181063E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625" y="4765606"/>
            <a:ext cx="4512018" cy="838227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14EF030-6DD9-05A5-B599-ABF81B16EA7B}"/>
              </a:ext>
            </a:extLst>
          </p:cNvPr>
          <p:cNvSpPr txBox="1">
            <a:spLocks/>
          </p:cNvSpPr>
          <p:nvPr/>
        </p:nvSpPr>
        <p:spPr>
          <a:xfrm>
            <a:off x="8703802" y="4725758"/>
            <a:ext cx="1295400" cy="716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2800" b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15F0ACA-FBAB-5B68-E703-0EC9B8F42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7014" y="4879878"/>
            <a:ext cx="1900503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999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9E380-E42F-0DB8-EC3C-8DD7A27D9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27204B0-14B9-5D18-3CBA-1E1D82EBB743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go back to the pixel-wise operations…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FFEC29-DA36-2A60-DE27-D9EA76A96752}"/>
                  </a:ext>
                </a:extLst>
              </p:cNvPr>
              <p:cNvSpPr txBox="1"/>
              <p:nvPr/>
            </p:nvSpPr>
            <p:spPr>
              <a:xfrm>
                <a:off x="370783" y="944118"/>
                <a:ext cx="8933469" cy="496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Let’s do an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US" sz="24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FFEC29-DA36-2A60-DE27-D9EA76A96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83" y="944118"/>
                <a:ext cx="8933469" cy="496674"/>
              </a:xfrm>
              <a:prstGeom prst="rect">
                <a:avLst/>
              </a:prstGeom>
              <a:blipFill>
                <a:blip r:embed="rId3"/>
                <a:stretch>
                  <a:fillRect l="-1092" t="-9877" b="-20988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56A16C4-96E1-CF3B-5197-966632D9FBFB}"/>
              </a:ext>
            </a:extLst>
          </p:cNvPr>
          <p:cNvSpPr txBox="1"/>
          <p:nvPr/>
        </p:nvSpPr>
        <p:spPr>
          <a:xfrm>
            <a:off x="370783" y="1671398"/>
            <a:ext cx="89334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We can exploit the Hermitian symmetry of A as follows</a:t>
            </a:r>
            <a:endParaRPr lang="es-US" sz="24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0C487B-823E-7397-9CE2-133555806E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82" y="2533882"/>
            <a:ext cx="10545647" cy="21910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0683D8-8F7D-7E11-7766-00D9AB7B688A}"/>
                  </a:ext>
                </a:extLst>
              </p:cNvPr>
              <p:cNvSpPr txBox="1"/>
              <p:nvPr/>
            </p:nvSpPr>
            <p:spPr>
              <a:xfrm>
                <a:off x="266007" y="5314172"/>
                <a:ext cx="1074342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The good news is that we only need to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𝟎𝟎</m:t>
                        </m:r>
                      </m:sub>
                    </m:sSub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𝟏𝟏</m:t>
                        </m:r>
                      </m:sub>
                    </m:sSub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400" b="1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𝟎</m:t>
                        </m:r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s-US" sz="240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s-US" sz="24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s-US" sz="24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𝑨</m:t>
                            </m:r>
                          </m:e>
                          <m:sub>
                            <m:r>
                              <a:rPr lang="es-US" sz="2400" b="1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𝟎𝟏</m:t>
                            </m:r>
                          </m:sub>
                        </m:sSub>
                      </m:e>
                      <m:sup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endParaRPr lang="es-US" sz="24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70683D8-8F7D-7E11-7766-00D9AB7B6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07" y="5314172"/>
                <a:ext cx="10743420" cy="461665"/>
              </a:xfrm>
              <a:prstGeom prst="rect">
                <a:avLst/>
              </a:prstGeom>
              <a:blipFill>
                <a:blip r:embed="rId5"/>
                <a:stretch>
                  <a:fillRect l="-908" t="-12000" b="-30667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6200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8CD43-E486-D505-F232-4643D1FE4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3CCD8A3F-D7DC-E444-FC5C-A20C0215D791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go back to the pixel-wise operations…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19BA6C-AA79-9F7E-03F6-3B1F5EA128FE}"/>
                  </a:ext>
                </a:extLst>
              </p:cNvPr>
              <p:cNvSpPr txBox="1"/>
              <p:nvPr/>
            </p:nvSpPr>
            <p:spPr>
              <a:xfrm>
                <a:off x="370783" y="944118"/>
                <a:ext cx="8933469" cy="4966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Let’s do an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𝑨</m:t>
                        </m:r>
                      </m:e>
                      <m:sub>
                        <m: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𝒇</m:t>
                        </m:r>
                      </m:sub>
                    </m:sSub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𝟐</m:t>
                    </m:r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US" sz="240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19BA6C-AA79-9F7E-03F6-3B1F5EA12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83" y="944118"/>
                <a:ext cx="8933469" cy="496674"/>
              </a:xfrm>
              <a:prstGeom prst="rect">
                <a:avLst/>
              </a:prstGeom>
              <a:blipFill>
                <a:blip r:embed="rId2"/>
                <a:stretch>
                  <a:fillRect l="-1092" t="-9877" b="-20988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2093280-D3D9-F75B-1A26-414B6FA72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785" y="1800110"/>
            <a:ext cx="6563641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21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68544-ECA4-EA5E-AD1A-72C70C80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03EB7DF4-52D7-8D4C-3FBC-C5D2113965E1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Complex multiply-accumulate operations for A and 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818D35-9394-AB26-034B-413C4FD19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71" y="1016930"/>
            <a:ext cx="11241069" cy="19147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37B324-A158-347F-8942-429C81B9C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316" y="5456813"/>
            <a:ext cx="2395750" cy="11490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753A4C-8DF4-461E-25E2-D06E8E34B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71" y="3316942"/>
            <a:ext cx="10307488" cy="179095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B732F7B-251C-572C-E7BF-15F6A1A7D4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71" y="5841070"/>
            <a:ext cx="6390996" cy="50150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6E0D73-B3E4-CC6D-7079-AB342AEB7C62}"/>
              </a:ext>
            </a:extLst>
          </p:cNvPr>
          <p:cNvSpPr/>
          <p:nvPr/>
        </p:nvSpPr>
        <p:spPr>
          <a:xfrm>
            <a:off x="6096000" y="2178168"/>
            <a:ext cx="5347156" cy="630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D1CB6B-93E0-AE2A-0CC3-1A9F0219114B}"/>
              </a:ext>
            </a:extLst>
          </p:cNvPr>
          <p:cNvSpPr/>
          <p:nvPr/>
        </p:nvSpPr>
        <p:spPr>
          <a:xfrm>
            <a:off x="6096000" y="4477116"/>
            <a:ext cx="4414887" cy="6307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024616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B079B-3494-99DC-6E7E-905914F5F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6CE7F2EF-6D40-B4A7-268E-BE33AC70E19A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Lets unfold the Cholesky algorithm…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4A0E14-4DF0-A5DA-0573-0C12D7CE8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629" y="2169886"/>
            <a:ext cx="3886742" cy="7430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AAE936-2561-C261-5303-2983D85F4714}"/>
                  </a:ext>
                </a:extLst>
              </p:cNvPr>
              <p:cNvSpPr txBox="1"/>
              <p:nvPr/>
            </p:nvSpPr>
            <p:spPr>
              <a:xfrm>
                <a:off x="322984" y="1043366"/>
                <a:ext cx="1117524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We decompose the matrix A in the </a:t>
                </a:r>
                <a14:m>
                  <m:oMath xmlns:m="http://schemas.openxmlformats.org/officeDocument/2006/math">
                    <m:r>
                      <a:rPr lang="es-U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𝐀</m:t>
                    </m:r>
                    <m:acc>
                      <m:accPr>
                        <m:chr m:val="̂"/>
                        <m:ctrlPr>
                          <a:rPr lang="es-US" sz="2400" b="1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s-US" sz="2400" b="1" i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𝐦</m:t>
                        </m:r>
                      </m:e>
                    </m:acc>
                    <m:r>
                      <a:rPr lang="es-US" sz="2400" b="1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s-US" sz="2400" b="1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𝐛</m:t>
                    </m:r>
                  </m:oMath>
                </a14:m>
                <a:r>
                  <a:rPr lang="es-US" sz="2400"/>
                  <a:t> </a:t>
                </a:r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system as follows:</a:t>
                </a:r>
                <a:endParaRPr lang="es-US" sz="240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6AAE936-2561-C261-5303-2983D85F4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984" y="1043366"/>
                <a:ext cx="11175243" cy="461665"/>
              </a:xfrm>
              <a:prstGeom prst="rect">
                <a:avLst/>
              </a:prstGeom>
              <a:blipFill>
                <a:blip r:embed="rId3"/>
                <a:stretch>
                  <a:fillRect l="-873" t="-11842" b="-2763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BACF58B-D976-9762-9212-4E5F0E384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347" y="3773587"/>
            <a:ext cx="4077269" cy="914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455421-1A9F-B9BF-ED21-73EDD7D1C8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462" y="3711664"/>
            <a:ext cx="3439005" cy="103837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1A91FE6B-D0E3-E403-A6FC-CF3486C2DBE0}"/>
              </a:ext>
            </a:extLst>
          </p:cNvPr>
          <p:cNvSpPr/>
          <p:nvPr/>
        </p:nvSpPr>
        <p:spPr>
          <a:xfrm>
            <a:off x="5869028" y="4039460"/>
            <a:ext cx="787022" cy="382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74EDF0D-74A1-0863-5E03-CB67D82D56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6136" y="5074733"/>
            <a:ext cx="1595146" cy="47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18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BE44A-0CBF-BF97-4EBE-B7D98AC9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7D6E2497-334D-0111-F838-476E92552341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unfold the Cholesky algorithm…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1FA6EB-B3DE-AF2E-3110-C46408A5CAD0}"/>
              </a:ext>
            </a:extLst>
          </p:cNvPr>
          <p:cNvSpPr txBox="1"/>
          <p:nvPr/>
        </p:nvSpPr>
        <p:spPr>
          <a:xfrm>
            <a:off x="389839" y="1338889"/>
            <a:ext cx="11175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By equating the terms, we finish having:</a:t>
            </a:r>
            <a:endParaRPr lang="es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0F2FEF-EFEA-3C26-6656-AECB0DC85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387" y="2585448"/>
            <a:ext cx="2553056" cy="2248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E563CA-E7F1-D673-9133-3D97E4133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302" y="4372940"/>
            <a:ext cx="305272" cy="292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218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A3EFF-2C2C-8EFC-72B3-3B12281A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FD73A608-8188-9DD7-4C8D-8809F64DE0C5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Lets unfold the Cholesky algorithm…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8AF89-982D-613D-B6C1-0E25A46FEA99}"/>
              </a:ext>
            </a:extLst>
          </p:cNvPr>
          <p:cNvSpPr txBox="1"/>
          <p:nvPr/>
        </p:nvSpPr>
        <p:spPr>
          <a:xfrm>
            <a:off x="198293" y="996152"/>
            <a:ext cx="11175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Step 1: Forward substitution</a:t>
            </a:r>
            <a:endParaRPr lang="es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21560-6C48-0CCC-4502-D5AFDA198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630" y="1662118"/>
            <a:ext cx="1038370" cy="4858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AE653C-19E6-33EF-AAB4-47F259B0A5DD}"/>
              </a:ext>
            </a:extLst>
          </p:cNvPr>
          <p:cNvSpPr txBox="1"/>
          <p:nvPr/>
        </p:nvSpPr>
        <p:spPr>
          <a:xfrm>
            <a:off x="198292" y="2352262"/>
            <a:ext cx="11175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Which means:</a:t>
            </a:r>
            <a:endParaRPr lang="es-US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50F059-5A6C-60AB-918B-B0D966207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664" y="3463827"/>
            <a:ext cx="2858045" cy="828727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75715E33-AB95-20E6-3F3E-7A9D0A7DD2DC}"/>
              </a:ext>
            </a:extLst>
          </p:cNvPr>
          <p:cNvSpPr/>
          <p:nvPr/>
        </p:nvSpPr>
        <p:spPr>
          <a:xfrm>
            <a:off x="5123584" y="3661297"/>
            <a:ext cx="787022" cy="382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F83E1AE-054B-C976-AD27-79E2E5ECA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704" y="3049401"/>
            <a:ext cx="2105319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3581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1313D-C375-446E-817D-3A212E2C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BF05576A-7E49-314E-7EE2-6EE458E88606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Lets unfold the Cholesky algorithm…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DCB26-2009-D4D3-67C7-02071653BE95}"/>
              </a:ext>
            </a:extLst>
          </p:cNvPr>
          <p:cNvSpPr txBox="1"/>
          <p:nvPr/>
        </p:nvSpPr>
        <p:spPr>
          <a:xfrm>
            <a:off x="198293" y="996152"/>
            <a:ext cx="56310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Step 2: Backward substitution</a:t>
            </a:r>
            <a:endParaRPr lang="es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5E547-2391-FA38-B4B2-B4C515059C42}"/>
              </a:ext>
            </a:extLst>
          </p:cNvPr>
          <p:cNvSpPr txBox="1"/>
          <p:nvPr/>
        </p:nvSpPr>
        <p:spPr>
          <a:xfrm>
            <a:off x="198293" y="2352262"/>
            <a:ext cx="24098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Which means:</a:t>
            </a:r>
            <a:endParaRPr lang="es-US" sz="24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F4C6655-3B21-5764-3F72-33D0E008A39A}"/>
              </a:ext>
            </a:extLst>
          </p:cNvPr>
          <p:cNvSpPr/>
          <p:nvPr/>
        </p:nvSpPr>
        <p:spPr>
          <a:xfrm>
            <a:off x="3663717" y="3661295"/>
            <a:ext cx="787022" cy="382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1BF76A-79EA-663A-AA7F-E388E6EEF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026" y="1702362"/>
            <a:ext cx="1143160" cy="504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0D9F7F-4BCC-56E5-3FAE-66F377951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39" y="3458069"/>
            <a:ext cx="2800741" cy="7892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702E80-387F-E8B5-9DEA-185F503942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577" y="3101701"/>
            <a:ext cx="2476846" cy="16004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4C6598-4C2D-AE00-3B2B-6449BC7C30FF}"/>
              </a:ext>
            </a:extLst>
          </p:cNvPr>
          <p:cNvSpPr txBox="1"/>
          <p:nvPr/>
        </p:nvSpPr>
        <p:spPr>
          <a:xfrm>
            <a:off x="7793346" y="2691799"/>
            <a:ext cx="42730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A problem appears here:</a:t>
            </a:r>
          </a:p>
          <a:p>
            <a:endParaRPr lang="es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US" b="1">
                <a:latin typeface="Arial" panose="020B0604020202020204" pitchFamily="34" charset="0"/>
                <a:cs typeface="Arial" panose="020B0604020202020204" pitchFamily="34" charset="0"/>
              </a:rPr>
              <a:t>We hneed to compute 5 divisions and 2 square roots, which are expensive and difficult to implement in a digital design</a:t>
            </a:r>
            <a:endParaRPr lang="es-US" sz="2400"/>
          </a:p>
        </p:txBody>
      </p:sp>
    </p:spTree>
    <p:extLst>
      <p:ext uri="{BB962C8B-B14F-4D97-AF65-F5344CB8AC3E}">
        <p14:creationId xmlns:p14="http://schemas.microsoft.com/office/powerpoint/2010/main" val="21734088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55F04-1BEB-5A93-FBF2-8A06DBA45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66388CE2-EF19-535D-2DB1-8B4DC34D588E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A Cholesky friendly variant…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8AC208-8DE2-EE18-DED4-92AB5F494719}"/>
              </a:ext>
            </a:extLst>
          </p:cNvPr>
          <p:cNvSpPr txBox="1"/>
          <p:nvPr/>
        </p:nvSpPr>
        <p:spPr>
          <a:xfrm>
            <a:off x="198293" y="996152"/>
            <a:ext cx="119937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To reduce the number of divisions and eliminate square roots, we introduce a variant of the Cholesky algorithm:</a:t>
            </a:r>
            <a:endParaRPr lang="es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4840F8-F329-ACBF-0F40-8B3C86DD7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503" y="2031450"/>
            <a:ext cx="2609621" cy="8309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F5EA59-999C-0730-3DE9-3B8CC339E9B5}"/>
              </a:ext>
            </a:extLst>
          </p:cNvPr>
          <p:cNvSpPr txBox="1"/>
          <p:nvPr/>
        </p:nvSpPr>
        <p:spPr>
          <a:xfrm>
            <a:off x="103695" y="3013501"/>
            <a:ext cx="119937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Here, L remains lower triangular while a new diagonal matrix D is introduced. For the local 2 x 2 block:</a:t>
            </a:r>
            <a:endParaRPr lang="es-US" sz="24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447E40C-2244-3239-4B0F-C618F7CB9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228" y="4355880"/>
            <a:ext cx="7478169" cy="10764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32A2382-86D8-AF92-71FA-35E331285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659" y="4355880"/>
            <a:ext cx="1641001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378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39C31-320A-496B-5793-27E45BD25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194CD51A-AC97-E0F8-1035-6D3B811C38C6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A Cholesky friendly variant…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76BF7-F422-8B8A-6B7A-AA8AE74101EE}"/>
              </a:ext>
            </a:extLst>
          </p:cNvPr>
          <p:cNvSpPr txBox="1"/>
          <p:nvPr/>
        </p:nvSpPr>
        <p:spPr>
          <a:xfrm>
            <a:off x="198293" y="996152"/>
            <a:ext cx="119937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By expanding the matrices, we obtain:</a:t>
            </a:r>
            <a:endParaRPr lang="es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E6765B-3967-F66D-4211-BB3B8B9A7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196" y="1662118"/>
            <a:ext cx="4999359" cy="114807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2B2EA4F4-12F8-D805-09B1-5A59BF9DA573}"/>
              </a:ext>
            </a:extLst>
          </p:cNvPr>
          <p:cNvSpPr/>
          <p:nvPr/>
        </p:nvSpPr>
        <p:spPr>
          <a:xfrm rot="5400000">
            <a:off x="5535359" y="2951614"/>
            <a:ext cx="588945" cy="46306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61150D-6000-01AB-9B2E-2504C7904CAC}"/>
                  </a:ext>
                </a:extLst>
              </p:cNvPr>
              <p:cNvSpPr txBox="1"/>
              <p:nvPr/>
            </p:nvSpPr>
            <p:spPr>
              <a:xfrm>
                <a:off x="7603546" y="3013501"/>
                <a:ext cx="3618635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Since A is HPD,</a:t>
                </a:r>
                <a:b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U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U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s-U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𝟎</m:t>
                          </m:r>
                        </m:sub>
                      </m:sSub>
                      <m:r>
                        <a:rPr lang="es-U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&gt;</m:t>
                      </m:r>
                      <m:r>
                        <a:rPr lang="es-US" sz="2400" b="1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US" sz="240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U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s-US" sz="2400" b="1" i="1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𝒅</m:t>
                          </m:r>
                        </m:e>
                        <m:sub>
                          <m:r>
                            <a:rPr lang="es-US" sz="2400" b="1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𝟏</m:t>
                          </m:r>
                        </m:sub>
                      </m:sSub>
                      <m:r>
                        <a:rPr lang="es-U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&gt;</m:t>
                      </m:r>
                      <m:r>
                        <a:rPr lang="es-US" sz="2400" b="1" i="1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𝟎</m:t>
                      </m:r>
                    </m:oMath>
                  </m:oMathPara>
                </a14:m>
                <a:endParaRPr lang="es-US" sz="240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061150D-6000-01AB-9B2E-2504C7904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546" y="3013501"/>
                <a:ext cx="3618635" cy="1200329"/>
              </a:xfrm>
              <a:prstGeom prst="rect">
                <a:avLst/>
              </a:prstGeom>
              <a:blipFill>
                <a:blip r:embed="rId3"/>
                <a:stretch>
                  <a:fillRect l="-2525" t="-3553" b="-508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72F8CAD0-5868-B85E-61A3-0D5C6487C9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570" y="3890141"/>
            <a:ext cx="3105583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3545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692D9-B838-022D-60BF-9BEE97F85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C542DF7-F4E4-F6EF-D734-73EB041EB75C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A Cholesky friendly variant…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3217A-BB35-967E-4E24-466872984FCA}"/>
              </a:ext>
            </a:extLst>
          </p:cNvPr>
          <p:cNvSpPr txBox="1"/>
          <p:nvPr/>
        </p:nvSpPr>
        <p:spPr>
          <a:xfrm>
            <a:off x="198293" y="996152"/>
            <a:ext cx="11175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Step 1: Forward substitution</a:t>
            </a:r>
            <a:endParaRPr lang="es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FB424-32A1-1A45-D9DE-B3B4C8246288}"/>
              </a:ext>
            </a:extLst>
          </p:cNvPr>
          <p:cNvSpPr txBox="1"/>
          <p:nvPr/>
        </p:nvSpPr>
        <p:spPr>
          <a:xfrm>
            <a:off x="198292" y="2352262"/>
            <a:ext cx="11175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Which means:</a:t>
            </a:r>
            <a:endParaRPr lang="es-US" sz="24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4DBBAEA-846A-A2E6-1C65-950CF0D1CC68}"/>
              </a:ext>
            </a:extLst>
          </p:cNvPr>
          <p:cNvSpPr/>
          <p:nvPr/>
        </p:nvSpPr>
        <p:spPr>
          <a:xfrm>
            <a:off x="5123584" y="3661297"/>
            <a:ext cx="787022" cy="382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B3E63F-5A4B-80EC-32ED-045A23C9A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584" y="1686296"/>
            <a:ext cx="1238423" cy="5239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53AB4E-EDE2-DAA6-C800-EC50B8853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691" y="3282795"/>
            <a:ext cx="3578481" cy="12216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80FDA05-B23B-9078-EEEA-87AEBE7F4F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880" y="3282795"/>
            <a:ext cx="2448267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586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A82E5-23D1-2699-19CF-A59101EFF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91B6EC8-790F-6150-9263-3D60C819ABF2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A Cholesky friendly variant…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B878AE-FE4C-4A7D-70EC-C43EC29038AA}"/>
              </a:ext>
            </a:extLst>
          </p:cNvPr>
          <p:cNvSpPr txBox="1"/>
          <p:nvPr/>
        </p:nvSpPr>
        <p:spPr>
          <a:xfrm>
            <a:off x="198293" y="996152"/>
            <a:ext cx="11175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Step 2: Diagonal substitution</a:t>
            </a:r>
            <a:endParaRPr lang="es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6FB25-9256-BF6A-35BD-EBFFA0CF3ABD}"/>
              </a:ext>
            </a:extLst>
          </p:cNvPr>
          <p:cNvSpPr txBox="1"/>
          <p:nvPr/>
        </p:nvSpPr>
        <p:spPr>
          <a:xfrm>
            <a:off x="198292" y="2352262"/>
            <a:ext cx="11175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Which means:</a:t>
            </a:r>
            <a:endParaRPr lang="es-US" sz="24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BE70EE2-99D7-0738-D5DE-042DE2FDE680}"/>
              </a:ext>
            </a:extLst>
          </p:cNvPr>
          <p:cNvSpPr/>
          <p:nvPr/>
        </p:nvSpPr>
        <p:spPr>
          <a:xfrm>
            <a:off x="5587525" y="3669344"/>
            <a:ext cx="787022" cy="382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6CE70E-FC03-CD52-F8DA-C84477B06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518" y="1698569"/>
            <a:ext cx="1730362" cy="6536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6B9117-7725-6E70-E40D-C0A19D2AA2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064" y="3397235"/>
            <a:ext cx="4110750" cy="12936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3B29A5-9F57-2F7A-6576-D560E1906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969" y="2865232"/>
            <a:ext cx="1543265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75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A0E69-2152-5D64-B568-F1FBFEF29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61C682CB-B1B3-5747-FBC5-187EA8A59FC1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A Cholesky friendly variant…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4F5750-1D7C-68C2-7B4F-16ACC396EDD5}"/>
              </a:ext>
            </a:extLst>
          </p:cNvPr>
          <p:cNvSpPr txBox="1"/>
          <p:nvPr/>
        </p:nvSpPr>
        <p:spPr>
          <a:xfrm>
            <a:off x="198293" y="996152"/>
            <a:ext cx="11175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Step 3: Backward substitution</a:t>
            </a:r>
            <a:endParaRPr lang="es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A4F8F-9213-712F-7571-ECA88C110565}"/>
              </a:ext>
            </a:extLst>
          </p:cNvPr>
          <p:cNvSpPr txBox="1"/>
          <p:nvPr/>
        </p:nvSpPr>
        <p:spPr>
          <a:xfrm>
            <a:off x="198292" y="2352262"/>
            <a:ext cx="11175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Which means:</a:t>
            </a:r>
            <a:endParaRPr lang="es-US" sz="24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537D27D-21D4-28B8-8A1C-1FB73C90BFAB}"/>
              </a:ext>
            </a:extLst>
          </p:cNvPr>
          <p:cNvSpPr/>
          <p:nvPr/>
        </p:nvSpPr>
        <p:spPr>
          <a:xfrm>
            <a:off x="5587525" y="3669344"/>
            <a:ext cx="787022" cy="3827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306854-F849-ED9A-7194-2A57BF834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325" y="1581605"/>
            <a:ext cx="2154350" cy="9018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113519-5D74-A605-63E2-066DA752D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794" y="3366655"/>
            <a:ext cx="2762636" cy="11431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7BCB75-3D3B-506C-5F78-A78FE711051F}"/>
              </a:ext>
            </a:extLst>
          </p:cNvPr>
          <p:cNvSpPr txBox="1"/>
          <p:nvPr/>
        </p:nvSpPr>
        <p:spPr>
          <a:xfrm>
            <a:off x="322984" y="5134399"/>
            <a:ext cx="11175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Now we only requiere 3 divisions and no suqre roots !!!</a:t>
            </a:r>
            <a:endParaRPr lang="es-US" sz="24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278767-244F-3317-CD2E-8C3B69237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257" y="3294733"/>
            <a:ext cx="4331950" cy="123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002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295AF-D6DC-C2DB-08D1-A63E9F3FA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4C84DEF-3E33-6EF4-8ADA-B467FDF83052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Comparision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2F5F18-E390-32B2-066F-236ED9EB2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1899"/>
              </p:ext>
            </p:extLst>
          </p:nvPr>
        </p:nvGraphicFramePr>
        <p:xfrm>
          <a:off x="1846606" y="1488593"/>
          <a:ext cx="8128000" cy="3609431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3137284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12226498"/>
                    </a:ext>
                  </a:extLst>
                </a:gridCol>
              </a:tblGrid>
              <a:tr h="515633">
                <a:tc>
                  <a:txBody>
                    <a:bodyPr/>
                    <a:lstStyle/>
                    <a:p>
                      <a:pPr algn="ctr"/>
                      <a:r>
                        <a:rPr lang="es-US"/>
                        <a:t>LLH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US"/>
                        <a:t>LDLH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38674"/>
                  </a:ext>
                </a:extLst>
              </a:tr>
              <a:tr h="515633">
                <a:tc>
                  <a:txBody>
                    <a:bodyPr/>
                    <a:lstStyle/>
                    <a:p>
                      <a:r>
                        <a:rPr lang="es-US" b="1"/>
                        <a:t>2 square roots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S" b="1"/>
                        <a:t>0 square roots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221966"/>
                  </a:ext>
                </a:extLst>
              </a:tr>
              <a:tr h="515633">
                <a:tc>
                  <a:txBody>
                    <a:bodyPr/>
                    <a:lstStyle/>
                    <a:p>
                      <a:r>
                        <a:rPr lang="es-US" b="1"/>
                        <a:t>5 divisions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S" b="1"/>
                        <a:t>3 divisions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430308"/>
                  </a:ext>
                </a:extLst>
              </a:tr>
              <a:tr h="515633">
                <a:tc>
                  <a:txBody>
                    <a:bodyPr/>
                    <a:lstStyle/>
                    <a:p>
                      <a:r>
                        <a:rPr lang="es-US" b="1"/>
                        <a:t>2 complex multiplicationes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S" b="1"/>
                        <a:t>2 complex multiplications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724858"/>
                  </a:ext>
                </a:extLst>
              </a:tr>
              <a:tr h="515633">
                <a:tc>
                  <a:txBody>
                    <a:bodyPr/>
                    <a:lstStyle/>
                    <a:p>
                      <a:r>
                        <a:rPr lang="es-US" b="1"/>
                        <a:t>1 magnitude square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S" b="1"/>
                        <a:t>1 magnitude square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177677"/>
                  </a:ext>
                </a:extLst>
              </a:tr>
              <a:tr h="515633">
                <a:tc>
                  <a:txBody>
                    <a:bodyPr/>
                    <a:lstStyle/>
                    <a:p>
                      <a:r>
                        <a:rPr lang="es-US" b="1"/>
                        <a:t>3 substractions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S" b="1"/>
                        <a:t>1 substraction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098379"/>
                  </a:ext>
                </a:extLst>
              </a:tr>
              <a:tr h="515633">
                <a:tc>
                  <a:txBody>
                    <a:bodyPr/>
                    <a:lstStyle/>
                    <a:p>
                      <a:r>
                        <a:rPr lang="es-US" b="1"/>
                        <a:t>1 addition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US" b="1"/>
                        <a:t>1 addition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638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2073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EAE2-7E1B-3FEA-391B-42A54A2A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2B8A0299-6A30-B732-A5EC-5EFF6DA617D4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1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F37E29-AE0A-887D-8964-3E322A7540A3}"/>
              </a:ext>
            </a:extLst>
          </p:cNvPr>
          <p:cNvSpPr txBox="1"/>
          <p:nvPr/>
        </p:nvSpPr>
        <p:spPr>
          <a:xfrm>
            <a:off x="370783" y="944118"/>
            <a:ext cx="89334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First, we’re going to generate a target, following a phantom called “Shepp Logan” of size N x N = 32 x 32</a:t>
            </a:r>
            <a:endParaRPr lang="es-US" sz="2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40D422-DF15-60B4-6914-DE96DF550F24}"/>
              </a:ext>
            </a:extLst>
          </p:cNvPr>
          <p:cNvSpPr txBox="1"/>
          <p:nvPr/>
        </p:nvSpPr>
        <p:spPr>
          <a:xfrm>
            <a:off x="7652723" y="2352058"/>
            <a:ext cx="8913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Mag</a:t>
            </a:r>
            <a:endParaRPr lang="es-US" sz="240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DE8FC9B-EE87-3914-2A00-A20DFDA9A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789" y="3983450"/>
            <a:ext cx="876422" cy="3334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21EDA8-84E3-9621-315C-1D685D0B4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03" y="2030380"/>
            <a:ext cx="4736615" cy="4239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19AA75-B8F5-145C-7E77-CCEEF8999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7559" y="2903240"/>
            <a:ext cx="2161444" cy="21796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41FA7F-C095-8D58-507C-758D4E279D18}"/>
              </a:ext>
            </a:extLst>
          </p:cNvPr>
          <p:cNvSpPr txBox="1"/>
          <p:nvPr/>
        </p:nvSpPr>
        <p:spPr>
          <a:xfrm>
            <a:off x="10199358" y="2352058"/>
            <a:ext cx="1229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endParaRPr lang="es-US" sz="24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A78228C-FBC3-A95E-FB49-99DAE20640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6013" y="2882531"/>
            <a:ext cx="2198236" cy="217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3760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49872-6D22-AC65-010E-8B01F84B9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553D75C-ACDD-D161-DBBB-548FA340E0AA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2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9AD11-41D0-FFDE-E642-5BD3CD04F54E}"/>
              </a:ext>
            </a:extLst>
          </p:cNvPr>
          <p:cNvSpPr txBox="1"/>
          <p:nvPr/>
        </p:nvSpPr>
        <p:spPr>
          <a:xfrm>
            <a:off x="370783" y="944118"/>
            <a:ext cx="89334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Now, we’re going to generate synthetic sensitivity maps, assuming L = 4</a:t>
            </a:r>
            <a:endParaRPr lang="es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25AD3F-8A26-8FE5-1A6F-E102DE84935B}"/>
                  </a:ext>
                </a:extLst>
              </p:cNvPr>
              <p:cNvSpPr txBox="1"/>
              <p:nvPr/>
            </p:nvSpPr>
            <p:spPr>
              <a:xfrm>
                <a:off x="1660296" y="2052821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25AD3F-8A26-8FE5-1A6F-E102DE849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0296" y="2052821"/>
                <a:ext cx="560346" cy="276999"/>
              </a:xfrm>
              <a:prstGeom prst="rect">
                <a:avLst/>
              </a:prstGeom>
              <a:blipFill>
                <a:blip r:embed="rId4"/>
                <a:stretch>
                  <a:fillRect l="-10870" r="-9783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31BB91-8036-3016-0A11-846A42FB3123}"/>
                  </a:ext>
                </a:extLst>
              </p:cNvPr>
              <p:cNvSpPr txBox="1"/>
              <p:nvPr/>
            </p:nvSpPr>
            <p:spPr>
              <a:xfrm>
                <a:off x="893116" y="2191320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31BB91-8036-3016-0A11-846A42FB3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116" y="2191320"/>
                <a:ext cx="521746" cy="276999"/>
              </a:xfrm>
              <a:prstGeom prst="rect">
                <a:avLst/>
              </a:prstGeom>
              <a:blipFill>
                <a:blip r:embed="rId5"/>
                <a:stretch>
                  <a:fillRect l="-16471" r="-14118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E66EDA-4EEB-0503-C583-5BD6B776F0EF}"/>
                  </a:ext>
                </a:extLst>
              </p:cNvPr>
              <p:cNvSpPr txBox="1"/>
              <p:nvPr/>
            </p:nvSpPr>
            <p:spPr>
              <a:xfrm>
                <a:off x="2403123" y="2191319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1E66EDA-4EEB-0503-C583-5BD6B776F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3123" y="2191319"/>
                <a:ext cx="676724" cy="276999"/>
              </a:xfrm>
              <a:prstGeom prst="rect">
                <a:avLst/>
              </a:prstGeom>
              <a:blipFill>
                <a:blip r:embed="rId6"/>
                <a:stretch>
                  <a:fillRect l="-8108" r="-8108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FE7747-9508-A607-271E-84F4C86C8D1D}"/>
                  </a:ext>
                </a:extLst>
              </p:cNvPr>
              <p:cNvSpPr txBox="1"/>
              <p:nvPr/>
            </p:nvSpPr>
            <p:spPr>
              <a:xfrm>
                <a:off x="5583418" y="2045725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FE7747-9508-A607-271E-84F4C86C8D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3418" y="2045725"/>
                <a:ext cx="560346" cy="276999"/>
              </a:xfrm>
              <a:prstGeom prst="rect">
                <a:avLst/>
              </a:prstGeom>
              <a:blipFill>
                <a:blip r:embed="rId12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14921CB-D0E8-ABEB-B30A-8E9B3D732367}"/>
                  </a:ext>
                </a:extLst>
              </p:cNvPr>
              <p:cNvSpPr txBox="1"/>
              <p:nvPr/>
            </p:nvSpPr>
            <p:spPr>
              <a:xfrm>
                <a:off x="4816238" y="2184224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14921CB-D0E8-ABEB-B30A-8E9B3D732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238" y="2184224"/>
                <a:ext cx="521746" cy="276999"/>
              </a:xfrm>
              <a:prstGeom prst="rect">
                <a:avLst/>
              </a:prstGeom>
              <a:blipFill>
                <a:blip r:embed="rId13"/>
                <a:stretch>
                  <a:fillRect l="-15116" r="-13953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496C77-08A0-5422-6843-4D212923ED80}"/>
                  </a:ext>
                </a:extLst>
              </p:cNvPr>
              <p:cNvSpPr txBox="1"/>
              <p:nvPr/>
            </p:nvSpPr>
            <p:spPr>
              <a:xfrm>
                <a:off x="6326245" y="2184223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496C77-08A0-5422-6843-4D212923E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245" y="2184223"/>
                <a:ext cx="676724" cy="276999"/>
              </a:xfrm>
              <a:prstGeom prst="rect">
                <a:avLst/>
              </a:prstGeom>
              <a:blipFill>
                <a:blip r:embed="rId14"/>
                <a:stretch>
                  <a:fillRect l="-8108" r="-4505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6F7E13-1ABC-1E20-A7B1-0BADDD859C5D}"/>
                  </a:ext>
                </a:extLst>
              </p:cNvPr>
              <p:cNvSpPr txBox="1"/>
              <p:nvPr/>
            </p:nvSpPr>
            <p:spPr>
              <a:xfrm>
                <a:off x="1721659" y="4118410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6F7E13-1ABC-1E20-A7B1-0BADDD859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1659" y="4118410"/>
                <a:ext cx="560346" cy="276999"/>
              </a:xfrm>
              <a:prstGeom prst="rect">
                <a:avLst/>
              </a:prstGeom>
              <a:blipFill>
                <a:blip r:embed="rId15"/>
                <a:stretch>
                  <a:fillRect l="-10870" r="-9783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0344CF-43BB-9668-5D0B-0CF5DE54B9AB}"/>
                  </a:ext>
                </a:extLst>
              </p:cNvPr>
              <p:cNvSpPr txBox="1"/>
              <p:nvPr/>
            </p:nvSpPr>
            <p:spPr>
              <a:xfrm>
                <a:off x="833837" y="4256911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0344CF-43BB-9668-5D0B-0CF5DE54B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837" y="4256911"/>
                <a:ext cx="521746" cy="276999"/>
              </a:xfrm>
              <a:prstGeom prst="rect">
                <a:avLst/>
              </a:prstGeom>
              <a:blipFill>
                <a:blip r:embed="rId16"/>
                <a:stretch>
                  <a:fillRect l="-16471" r="-14118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2FB08A7-DB3D-54BC-A8A8-8F72C55D51B8}"/>
                  </a:ext>
                </a:extLst>
              </p:cNvPr>
              <p:cNvSpPr txBox="1"/>
              <p:nvPr/>
            </p:nvSpPr>
            <p:spPr>
              <a:xfrm>
                <a:off x="2343844" y="4256910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2FB08A7-DB3D-54BC-A8A8-8F72C55D5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3844" y="4256910"/>
                <a:ext cx="676724" cy="276999"/>
              </a:xfrm>
              <a:prstGeom prst="rect">
                <a:avLst/>
              </a:prstGeom>
              <a:blipFill>
                <a:blip r:embed="rId17"/>
                <a:stretch>
                  <a:fillRect l="-7143" r="-3571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B58BBE3-E59C-EFD1-6593-11578DEBA3EE}"/>
                  </a:ext>
                </a:extLst>
              </p:cNvPr>
              <p:cNvSpPr txBox="1"/>
              <p:nvPr/>
            </p:nvSpPr>
            <p:spPr>
              <a:xfrm>
                <a:off x="5498576" y="4191287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B58BBE3-E59C-EFD1-6593-11578DEBA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576" y="4191287"/>
                <a:ext cx="560346" cy="276999"/>
              </a:xfrm>
              <a:prstGeom prst="rect">
                <a:avLst/>
              </a:prstGeom>
              <a:blipFill>
                <a:blip r:embed="rId18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9C605D6-E6CF-6BD8-1CF6-8DFBC80AEF72}"/>
                  </a:ext>
                </a:extLst>
              </p:cNvPr>
              <p:cNvSpPr txBox="1"/>
              <p:nvPr/>
            </p:nvSpPr>
            <p:spPr>
              <a:xfrm>
                <a:off x="4731396" y="4329786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9C605D6-E6CF-6BD8-1CF6-8DFBC80AE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396" y="4329786"/>
                <a:ext cx="521746" cy="276999"/>
              </a:xfrm>
              <a:prstGeom prst="rect">
                <a:avLst/>
              </a:prstGeom>
              <a:blipFill>
                <a:blip r:embed="rId19"/>
                <a:stretch>
                  <a:fillRect l="-15116" r="-13953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CE312D4-9854-2B70-B45A-84E3763DCB8C}"/>
                  </a:ext>
                </a:extLst>
              </p:cNvPr>
              <p:cNvSpPr txBox="1"/>
              <p:nvPr/>
            </p:nvSpPr>
            <p:spPr>
              <a:xfrm>
                <a:off x="6241403" y="4329785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CE312D4-9854-2B70-B45A-84E3763DC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1403" y="4329785"/>
                <a:ext cx="676724" cy="276999"/>
              </a:xfrm>
              <a:prstGeom prst="rect">
                <a:avLst/>
              </a:prstGeom>
              <a:blipFill>
                <a:blip r:embed="rId20"/>
                <a:stretch>
                  <a:fillRect l="-8108" r="-4505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2147A31-56A4-DE18-2D23-DD6A97AC0B8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3463" y="2567075"/>
            <a:ext cx="1355981" cy="13270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7497E54-55A3-397D-25F0-D067C495A8E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95855" y="2549435"/>
            <a:ext cx="1355980" cy="13447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4E5308-65E4-E5B2-66C9-5429E9F1101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5400000">
            <a:off x="4335968" y="2574384"/>
            <a:ext cx="1355980" cy="13270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721F77-6A8D-C0AE-EE1D-E2AF4CFB113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5400000">
            <a:off x="6029275" y="2572713"/>
            <a:ext cx="1355980" cy="13447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EC13B5-4BE2-6BAC-31E0-6C76C83BB55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16200000">
            <a:off x="4401968" y="4699903"/>
            <a:ext cx="1355980" cy="13270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56FC0F-A5AC-0F39-CD54-86D0F1B298C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16200000">
            <a:off x="6037967" y="4700557"/>
            <a:ext cx="1355980" cy="1344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C018A5-8E34-5DD2-799C-AD8E79B1610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10800000">
            <a:off x="546798" y="4619684"/>
            <a:ext cx="1355980" cy="13270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EA039D-4AB4-0553-6DB2-5F3A5FB6837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10800000">
            <a:off x="2182797" y="4620338"/>
            <a:ext cx="1355980" cy="1344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72549E-9CAA-FD8D-C850-7A772846DC5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61805" y="3969789"/>
            <a:ext cx="4394079" cy="28062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FAD96A-484B-15D9-E220-BC0340ED239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23174" y="1495704"/>
            <a:ext cx="3360747" cy="11142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058C47-6A63-FDC8-39B7-1AE243964FE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23174" y="2820936"/>
            <a:ext cx="3426229" cy="98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621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85F02-180E-FACF-BB1E-1E187933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1425185-7487-D7B0-3249-A31B8836D1A2}"/>
              </a:ext>
            </a:extLst>
          </p:cNvPr>
          <p:cNvSpPr txBox="1">
            <a:spLocks/>
          </p:cNvSpPr>
          <p:nvPr/>
        </p:nvSpPr>
        <p:spPr>
          <a:xfrm>
            <a:off x="103695" y="-221351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3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D7BC24-DE8C-82DD-A7CA-4EF96D705A67}"/>
              </a:ext>
            </a:extLst>
          </p:cNvPr>
          <p:cNvSpPr txBox="1"/>
          <p:nvPr/>
        </p:nvSpPr>
        <p:spPr>
          <a:xfrm>
            <a:off x="342503" y="990284"/>
            <a:ext cx="109602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With the sensitivity maps generated, now we do the pixel-wise multiplication between the phantom and the maps</a:t>
            </a:r>
            <a:endParaRPr lang="es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B8C95D-C1C0-1707-8989-08852D0B5ACA}"/>
                  </a:ext>
                </a:extLst>
              </p:cNvPr>
              <p:cNvSpPr txBox="1"/>
              <p:nvPr/>
            </p:nvSpPr>
            <p:spPr>
              <a:xfrm>
                <a:off x="1255623" y="2429893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7B8C95D-C1C0-1707-8989-08852D0B5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623" y="2429893"/>
                <a:ext cx="560346" cy="276999"/>
              </a:xfrm>
              <a:prstGeom prst="rect">
                <a:avLst/>
              </a:prstGeom>
              <a:blipFill>
                <a:blip r:embed="rId2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14249C-40FE-E723-23E4-F4B8977D92C8}"/>
                  </a:ext>
                </a:extLst>
              </p:cNvPr>
              <p:cNvSpPr txBox="1"/>
              <p:nvPr/>
            </p:nvSpPr>
            <p:spPr>
              <a:xfrm>
                <a:off x="4222749" y="2429893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14249C-40FE-E723-23E4-F4B8977D9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749" y="2429893"/>
                <a:ext cx="560346" cy="276999"/>
              </a:xfrm>
              <a:prstGeom prst="rect">
                <a:avLst/>
              </a:prstGeom>
              <a:blipFill>
                <a:blip r:embed="rId7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2786FB-2869-BDC8-7930-AADA8A0C3AFB}"/>
                  </a:ext>
                </a:extLst>
              </p:cNvPr>
              <p:cNvSpPr txBox="1"/>
              <p:nvPr/>
            </p:nvSpPr>
            <p:spPr>
              <a:xfrm>
                <a:off x="7361777" y="2429893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2786FB-2869-BDC8-7930-AADA8A0C3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777" y="2429893"/>
                <a:ext cx="560346" cy="276999"/>
              </a:xfrm>
              <a:prstGeom prst="rect">
                <a:avLst/>
              </a:prstGeom>
              <a:blipFill>
                <a:blip r:embed="rId8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55A06-2E2E-F977-0B62-45C6B894D9D4}"/>
                  </a:ext>
                </a:extLst>
              </p:cNvPr>
              <p:cNvSpPr txBox="1"/>
              <p:nvPr/>
            </p:nvSpPr>
            <p:spPr>
              <a:xfrm>
                <a:off x="10391480" y="2429893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955A06-2E2E-F977-0B62-45C6B894D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1480" y="2429893"/>
                <a:ext cx="560346" cy="276999"/>
              </a:xfrm>
              <a:prstGeom prst="rect">
                <a:avLst/>
              </a:prstGeom>
              <a:blipFill>
                <a:blip r:embed="rId9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2D424D6-6A53-AA99-9A6F-739A751F3C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386" y="2805389"/>
            <a:ext cx="2607373" cy="26290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8F43396-153B-5BCC-CF8D-234A6AADA1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34103" y="2805389"/>
            <a:ext cx="2543732" cy="26290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69E041-4329-613A-B8A1-5C4E432CBE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016" y="2805390"/>
            <a:ext cx="2518192" cy="26290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14E64F1-3E26-095F-0A9C-45E673EC62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5422" y="2805390"/>
            <a:ext cx="2518192" cy="262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1428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D118E-0293-768A-F34D-5DB9955D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EFA768F2-9898-C915-E485-817CB72D9224}"/>
              </a:ext>
            </a:extLst>
          </p:cNvPr>
          <p:cNvSpPr txBox="1">
            <a:spLocks/>
          </p:cNvSpPr>
          <p:nvPr/>
        </p:nvSpPr>
        <p:spPr>
          <a:xfrm>
            <a:off x="131976" y="-240205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4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A06514-D155-DFE5-CDED-C8056DF1E791}"/>
              </a:ext>
            </a:extLst>
          </p:cNvPr>
          <p:cNvSpPr txBox="1"/>
          <p:nvPr/>
        </p:nvSpPr>
        <p:spPr>
          <a:xfrm>
            <a:off x="370783" y="944118"/>
            <a:ext cx="89334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Now we obtain the k-space from the coil images with the sensitivity maps applied</a:t>
            </a:r>
            <a:endParaRPr lang="es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CA1261-4BB1-7318-6DBA-C6CA8028C5EF}"/>
                  </a:ext>
                </a:extLst>
              </p:cNvPr>
              <p:cNvSpPr txBox="1"/>
              <p:nvPr/>
            </p:nvSpPr>
            <p:spPr>
              <a:xfrm>
                <a:off x="2934491" y="1956581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8CA1261-4BB1-7318-6DBA-C6CA8028C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491" y="1956581"/>
                <a:ext cx="560346" cy="276999"/>
              </a:xfrm>
              <a:prstGeom prst="rect">
                <a:avLst/>
              </a:prstGeom>
              <a:blipFill>
                <a:blip r:embed="rId2"/>
                <a:stretch>
                  <a:fillRect l="-10870" r="-9783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49C114-93A8-C26C-B499-02D9D68BA9B1}"/>
                  </a:ext>
                </a:extLst>
              </p:cNvPr>
              <p:cNvSpPr txBox="1"/>
              <p:nvPr/>
            </p:nvSpPr>
            <p:spPr>
              <a:xfrm>
                <a:off x="1943636" y="2084239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49C114-93A8-C26C-B499-02D9D68BA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36" y="2084239"/>
                <a:ext cx="521746" cy="276999"/>
              </a:xfrm>
              <a:prstGeom prst="rect">
                <a:avLst/>
              </a:prstGeom>
              <a:blipFill>
                <a:blip r:embed="rId3"/>
                <a:stretch>
                  <a:fillRect l="-16471" r="-14118" b="-3333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2453AC-807B-E3A2-F974-5AF5AAF8E89C}"/>
                  </a:ext>
                </a:extLst>
              </p:cNvPr>
              <p:cNvSpPr txBox="1"/>
              <p:nvPr/>
            </p:nvSpPr>
            <p:spPr>
              <a:xfrm>
                <a:off x="3782148" y="2082568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2453AC-807B-E3A2-F974-5AF5AAF8E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148" y="2082568"/>
                <a:ext cx="676724" cy="276999"/>
              </a:xfrm>
              <a:prstGeom prst="rect">
                <a:avLst/>
              </a:prstGeom>
              <a:blipFill>
                <a:blip r:embed="rId4"/>
                <a:stretch>
                  <a:fillRect l="-7207" r="-4505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89AD628-69A0-DD16-F2C7-65D92C92B181}"/>
                  </a:ext>
                </a:extLst>
              </p:cNvPr>
              <p:cNvSpPr txBox="1"/>
              <p:nvPr/>
            </p:nvSpPr>
            <p:spPr>
              <a:xfrm>
                <a:off x="7996928" y="1904998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89AD628-69A0-DD16-F2C7-65D92C92B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6928" y="1904998"/>
                <a:ext cx="560346" cy="276999"/>
              </a:xfrm>
              <a:prstGeom prst="rect">
                <a:avLst/>
              </a:prstGeom>
              <a:blipFill>
                <a:blip r:embed="rId5"/>
                <a:stretch>
                  <a:fillRect l="-10870" r="-8696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EC4BEBC-B6D0-B565-C10B-85704FA23D55}"/>
                  </a:ext>
                </a:extLst>
              </p:cNvPr>
              <p:cNvSpPr txBox="1"/>
              <p:nvPr/>
            </p:nvSpPr>
            <p:spPr>
              <a:xfrm>
                <a:off x="7135231" y="2069463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EC4BEBC-B6D0-B565-C10B-85704FA23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231" y="2069463"/>
                <a:ext cx="521746" cy="276999"/>
              </a:xfrm>
              <a:prstGeom prst="rect">
                <a:avLst/>
              </a:prstGeom>
              <a:blipFill>
                <a:blip r:embed="rId6"/>
                <a:stretch>
                  <a:fillRect l="-15116" r="-13953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FDF7B5-6410-FC97-E1AD-12D8A7746FD0}"/>
                  </a:ext>
                </a:extLst>
              </p:cNvPr>
              <p:cNvSpPr txBox="1"/>
              <p:nvPr/>
            </p:nvSpPr>
            <p:spPr>
              <a:xfrm>
                <a:off x="8897225" y="2116933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FDF7B5-6410-FC97-E1AD-12D8A7746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25" y="2116933"/>
                <a:ext cx="676724" cy="276999"/>
              </a:xfrm>
              <a:prstGeom prst="rect">
                <a:avLst/>
              </a:prstGeom>
              <a:blipFill>
                <a:blip r:embed="rId7"/>
                <a:stretch>
                  <a:fillRect l="-8108" r="-4505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41D90D-D206-FA16-1268-E60FDFDE1DA7}"/>
                  </a:ext>
                </a:extLst>
              </p:cNvPr>
              <p:cNvSpPr txBox="1"/>
              <p:nvPr/>
            </p:nvSpPr>
            <p:spPr>
              <a:xfrm>
                <a:off x="2886250" y="4487941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C41D90D-D206-FA16-1268-E60FDFDE1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6250" y="4487941"/>
                <a:ext cx="560346" cy="276999"/>
              </a:xfrm>
              <a:prstGeom prst="rect">
                <a:avLst/>
              </a:prstGeom>
              <a:blipFill>
                <a:blip r:embed="rId8"/>
                <a:stretch>
                  <a:fillRect l="-10870" r="-9783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EA11B25-1A20-3771-147B-24AB2160C9A2}"/>
                  </a:ext>
                </a:extLst>
              </p:cNvPr>
              <p:cNvSpPr txBox="1"/>
              <p:nvPr/>
            </p:nvSpPr>
            <p:spPr>
              <a:xfrm>
                <a:off x="1943636" y="4739686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EA11B25-1A20-3771-147B-24AB2160C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636" y="4739686"/>
                <a:ext cx="521746" cy="276999"/>
              </a:xfrm>
              <a:prstGeom prst="rect">
                <a:avLst/>
              </a:prstGeom>
              <a:blipFill>
                <a:blip r:embed="rId9"/>
                <a:stretch>
                  <a:fillRect l="-16471" r="-14118" b="-3333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C2968D-42D5-200D-43F1-7EF46A3173BF}"/>
                  </a:ext>
                </a:extLst>
              </p:cNvPr>
              <p:cNvSpPr txBox="1"/>
              <p:nvPr/>
            </p:nvSpPr>
            <p:spPr>
              <a:xfrm>
                <a:off x="3799694" y="4626441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D1C2968D-42D5-200D-43F1-7EF46A317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694" y="4626441"/>
                <a:ext cx="676724" cy="276999"/>
              </a:xfrm>
              <a:prstGeom prst="rect">
                <a:avLst/>
              </a:prstGeom>
              <a:blipFill>
                <a:blip r:embed="rId10"/>
                <a:stretch>
                  <a:fillRect l="-7207" r="-4505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081918D-C3EA-9D54-6381-71FC5A79B301}"/>
                  </a:ext>
                </a:extLst>
              </p:cNvPr>
              <p:cNvSpPr txBox="1"/>
              <p:nvPr/>
            </p:nvSpPr>
            <p:spPr>
              <a:xfrm>
                <a:off x="7982904" y="4506515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081918D-C3EA-9D54-6381-71FC5A79B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904" y="4506515"/>
                <a:ext cx="560346" cy="276999"/>
              </a:xfrm>
              <a:prstGeom prst="rect">
                <a:avLst/>
              </a:prstGeom>
              <a:blipFill>
                <a:blip r:embed="rId11"/>
                <a:stretch>
                  <a:fillRect l="-10989" r="-9890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C5239CB-7181-46FB-BE92-B565556375C4}"/>
                  </a:ext>
                </a:extLst>
              </p:cNvPr>
              <p:cNvSpPr txBox="1"/>
              <p:nvPr/>
            </p:nvSpPr>
            <p:spPr>
              <a:xfrm>
                <a:off x="7113398" y="4570403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C5239CB-7181-46FB-BE92-B56555637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398" y="4570403"/>
                <a:ext cx="521746" cy="276999"/>
              </a:xfrm>
              <a:prstGeom prst="rect">
                <a:avLst/>
              </a:prstGeom>
              <a:blipFill>
                <a:blip r:embed="rId12"/>
                <a:stretch>
                  <a:fillRect l="-16471" r="-14118" b="-3333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9680B3F-F241-09C4-A2F3-1590189E3CCE}"/>
                  </a:ext>
                </a:extLst>
              </p:cNvPr>
              <p:cNvSpPr txBox="1"/>
              <p:nvPr/>
            </p:nvSpPr>
            <p:spPr>
              <a:xfrm>
                <a:off x="8891010" y="4621953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9680B3F-F241-09C4-A2F3-1590189E3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010" y="4621953"/>
                <a:ext cx="676724" cy="276999"/>
              </a:xfrm>
              <a:prstGeom prst="rect">
                <a:avLst/>
              </a:prstGeom>
              <a:blipFill>
                <a:blip r:embed="rId13"/>
                <a:stretch>
                  <a:fillRect l="-7143" r="-3571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9E7BA1-D66B-82A4-F760-35E92567028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0630" y="2456557"/>
            <a:ext cx="1715374" cy="1593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20E808-2F04-9FC9-F1AA-0A1733210CB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45341" y="2456557"/>
            <a:ext cx="1585430" cy="15854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F9EEBC-05A1-CCED-80A8-DFCD0C577F6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26319" y="2489548"/>
            <a:ext cx="1539570" cy="15854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9FA163C-FF8C-2C8F-E70D-3633E8CEDA1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42872" y="2504050"/>
            <a:ext cx="1585430" cy="1585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CC5B8F0-99A3-3C18-6E6D-3D9904AB1F6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50630" y="5117209"/>
            <a:ext cx="1715374" cy="15933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57EDF6-1FCA-A412-1F1E-E769B83EC10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45341" y="5125125"/>
            <a:ext cx="1585429" cy="15854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2089FD-5DF3-9522-6BEA-F839332C20A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03389" y="5016685"/>
            <a:ext cx="1585429" cy="15933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52A537D-7066-D133-CFF1-43ED510A70E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436657" y="4993779"/>
            <a:ext cx="1585430" cy="158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4076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6F599-5950-1633-1D34-DEB42D33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87AA5038-7106-3959-1356-E1F71BE9244B}"/>
              </a:ext>
            </a:extLst>
          </p:cNvPr>
          <p:cNvSpPr txBox="1">
            <a:spLocks/>
          </p:cNvSpPr>
          <p:nvPr/>
        </p:nvSpPr>
        <p:spPr>
          <a:xfrm>
            <a:off x="131976" y="-240205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5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568008-A592-93B0-74BB-7C30EA8F43F9}"/>
                  </a:ext>
                </a:extLst>
              </p:cNvPr>
              <p:cNvSpPr txBox="1"/>
              <p:nvPr/>
            </p:nvSpPr>
            <p:spPr>
              <a:xfrm>
                <a:off x="380308" y="944118"/>
                <a:ext cx="8933469" cy="8893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Now we apply aliasing in the k-space in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s-US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 direction with an undersampling factor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s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s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US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s-US" sz="2400" b="1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s-US" sz="240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568008-A592-93B0-74BB-7C30EA8F4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08" y="944118"/>
                <a:ext cx="8933469" cy="889346"/>
              </a:xfrm>
              <a:prstGeom prst="rect">
                <a:avLst/>
              </a:prstGeom>
              <a:blipFill>
                <a:blip r:embed="rId2"/>
                <a:stretch>
                  <a:fillRect l="-1023" t="-5479" b="-11644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568AB8-9F50-335B-995F-C86DD626FD73}"/>
                  </a:ext>
                </a:extLst>
              </p:cNvPr>
              <p:cNvSpPr txBox="1"/>
              <p:nvPr/>
            </p:nvSpPr>
            <p:spPr>
              <a:xfrm>
                <a:off x="2864892" y="1944070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E568AB8-9F50-335B-995F-C86DD626F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892" y="1944070"/>
                <a:ext cx="560346" cy="276999"/>
              </a:xfrm>
              <a:prstGeom prst="rect">
                <a:avLst/>
              </a:prstGeom>
              <a:blipFill>
                <a:blip r:embed="rId3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F8163D-01D4-A89F-E2DB-91981BE5D595}"/>
                  </a:ext>
                </a:extLst>
              </p:cNvPr>
              <p:cNvSpPr txBox="1"/>
              <p:nvPr/>
            </p:nvSpPr>
            <p:spPr>
              <a:xfrm>
                <a:off x="2097712" y="2082569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4F8163D-01D4-A89F-E2DB-91981BE5D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712" y="2082569"/>
                <a:ext cx="521746" cy="276999"/>
              </a:xfrm>
              <a:prstGeom prst="rect">
                <a:avLst/>
              </a:prstGeom>
              <a:blipFill>
                <a:blip r:embed="rId4"/>
                <a:stretch>
                  <a:fillRect l="-15116" r="-13953" b="-3333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4F2F03-7395-24FB-AE3A-A0D548C15CE2}"/>
                  </a:ext>
                </a:extLst>
              </p:cNvPr>
              <p:cNvSpPr txBox="1"/>
              <p:nvPr/>
            </p:nvSpPr>
            <p:spPr>
              <a:xfrm>
                <a:off x="3607719" y="2082568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54F2F03-7395-24FB-AE3A-A0D548C15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719" y="2082568"/>
                <a:ext cx="676724" cy="276999"/>
              </a:xfrm>
              <a:prstGeom prst="rect">
                <a:avLst/>
              </a:prstGeom>
              <a:blipFill>
                <a:blip r:embed="rId5"/>
                <a:stretch>
                  <a:fillRect l="-8108" r="-8108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ACEC8A-B7CE-2192-7A4B-DBA406E09ABA}"/>
                  </a:ext>
                </a:extLst>
              </p:cNvPr>
              <p:cNvSpPr txBox="1"/>
              <p:nvPr/>
            </p:nvSpPr>
            <p:spPr>
              <a:xfrm>
                <a:off x="8101233" y="1856940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ACEC8A-B7CE-2192-7A4B-DBA406E09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233" y="1856940"/>
                <a:ext cx="560346" cy="276999"/>
              </a:xfrm>
              <a:prstGeom prst="rect">
                <a:avLst/>
              </a:prstGeom>
              <a:blipFill>
                <a:blip r:embed="rId6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FCF69E-63B8-82EE-88A4-7A00E25D744B}"/>
                  </a:ext>
                </a:extLst>
              </p:cNvPr>
              <p:cNvSpPr txBox="1"/>
              <p:nvPr/>
            </p:nvSpPr>
            <p:spPr>
              <a:xfrm>
                <a:off x="7135231" y="2069463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5FCF69E-63B8-82EE-88A4-7A00E25D7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231" y="2069463"/>
                <a:ext cx="521746" cy="276999"/>
              </a:xfrm>
              <a:prstGeom prst="rect">
                <a:avLst/>
              </a:prstGeom>
              <a:blipFill>
                <a:blip r:embed="rId7"/>
                <a:stretch>
                  <a:fillRect l="-15116" r="-13953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4F80552-2A8A-FE98-25EB-6E2C14A4F52E}"/>
                  </a:ext>
                </a:extLst>
              </p:cNvPr>
              <p:cNvSpPr txBox="1"/>
              <p:nvPr/>
            </p:nvSpPr>
            <p:spPr>
              <a:xfrm>
                <a:off x="8988746" y="2093396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4F80552-2A8A-FE98-25EB-6E2C14A4F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8746" y="2093396"/>
                <a:ext cx="676724" cy="276999"/>
              </a:xfrm>
              <a:prstGeom prst="rect">
                <a:avLst/>
              </a:prstGeom>
              <a:blipFill>
                <a:blip r:embed="rId8"/>
                <a:stretch>
                  <a:fillRect l="-8108" r="-4505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F9EEA8-F59B-004A-5664-1CA7CE2DC194}"/>
                  </a:ext>
                </a:extLst>
              </p:cNvPr>
              <p:cNvSpPr txBox="1"/>
              <p:nvPr/>
            </p:nvSpPr>
            <p:spPr>
              <a:xfrm>
                <a:off x="2886250" y="4487941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7F9EEA8-F59B-004A-5664-1CA7CE2DC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6250" y="4487941"/>
                <a:ext cx="560346" cy="276999"/>
              </a:xfrm>
              <a:prstGeom prst="rect">
                <a:avLst/>
              </a:prstGeom>
              <a:blipFill>
                <a:blip r:embed="rId9"/>
                <a:stretch>
                  <a:fillRect l="-10870" r="-9783" b="-6522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397BAE-D4ED-6E0A-4F30-3A612269D1BD}"/>
                  </a:ext>
                </a:extLst>
              </p:cNvPr>
              <p:cNvSpPr txBox="1"/>
              <p:nvPr/>
            </p:nvSpPr>
            <p:spPr>
              <a:xfrm>
                <a:off x="2039191" y="4690245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397BAE-D4ED-6E0A-4F30-3A612269D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191" y="4690245"/>
                <a:ext cx="521746" cy="276999"/>
              </a:xfrm>
              <a:prstGeom prst="rect">
                <a:avLst/>
              </a:prstGeom>
              <a:blipFill>
                <a:blip r:embed="rId10"/>
                <a:stretch>
                  <a:fillRect l="-16471" r="-14118" b="-3260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5C15F1F-6884-6545-FA6E-A198C99F7227}"/>
                  </a:ext>
                </a:extLst>
              </p:cNvPr>
              <p:cNvSpPr txBox="1"/>
              <p:nvPr/>
            </p:nvSpPr>
            <p:spPr>
              <a:xfrm>
                <a:off x="3799694" y="4626441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5C15F1F-6884-6545-FA6E-A198C99F7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694" y="4626441"/>
                <a:ext cx="676724" cy="276999"/>
              </a:xfrm>
              <a:prstGeom prst="rect">
                <a:avLst/>
              </a:prstGeom>
              <a:blipFill>
                <a:blip r:embed="rId11"/>
                <a:stretch>
                  <a:fillRect l="-7207" r="-4505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CF3B72F-A4BE-2F8C-6FA6-1691B744CBAF}"/>
                  </a:ext>
                </a:extLst>
              </p:cNvPr>
              <p:cNvSpPr txBox="1"/>
              <p:nvPr/>
            </p:nvSpPr>
            <p:spPr>
              <a:xfrm>
                <a:off x="7968135" y="4540394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CF3B72F-A4BE-2F8C-6FA6-1691B744C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8135" y="4540394"/>
                <a:ext cx="560346" cy="276999"/>
              </a:xfrm>
              <a:prstGeom prst="rect">
                <a:avLst/>
              </a:prstGeom>
              <a:blipFill>
                <a:blip r:embed="rId12"/>
                <a:stretch>
                  <a:fillRect l="-10870" r="-9783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EC0EEB7-5BF1-07DA-CFB2-9A2EA41D677D}"/>
                  </a:ext>
                </a:extLst>
              </p:cNvPr>
              <p:cNvSpPr txBox="1"/>
              <p:nvPr/>
            </p:nvSpPr>
            <p:spPr>
              <a:xfrm>
                <a:off x="7113282" y="4692685"/>
                <a:ext cx="521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𝑀𝑎𝑔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EC0EEB7-5BF1-07DA-CFB2-9A2EA41D6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282" y="4692685"/>
                <a:ext cx="521746" cy="276999"/>
              </a:xfrm>
              <a:prstGeom prst="rect">
                <a:avLst/>
              </a:prstGeom>
              <a:blipFill>
                <a:blip r:embed="rId13"/>
                <a:stretch>
                  <a:fillRect l="-16471" r="-14118" b="-33333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68C1A52-BFBB-C517-935D-A300D14135EA}"/>
                  </a:ext>
                </a:extLst>
              </p:cNvPr>
              <p:cNvSpPr txBox="1"/>
              <p:nvPr/>
            </p:nvSpPr>
            <p:spPr>
              <a:xfrm>
                <a:off x="8861588" y="4678894"/>
                <a:ext cx="6767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𝑎𝑠𝑒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68C1A52-BFBB-C517-935D-A300D1413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588" y="4678894"/>
                <a:ext cx="676724" cy="276999"/>
              </a:xfrm>
              <a:prstGeom prst="rect">
                <a:avLst/>
              </a:prstGeom>
              <a:blipFill>
                <a:blip r:embed="rId14"/>
                <a:stretch>
                  <a:fillRect l="-8108" r="-4505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A6E1F4E-4C05-B7FE-0742-68334B92EE4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70430" y="2418328"/>
            <a:ext cx="1749073" cy="16820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EB06EB-116C-3296-4189-C2EA918CFBE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33234" y="2449458"/>
            <a:ext cx="1623230" cy="16334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938FC6-590C-F52B-A2C1-5FDD8BB7F66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21568" y="2430330"/>
            <a:ext cx="1749072" cy="168200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EA7C5B3-5CF4-31D2-3F55-CE9BA4710E3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28482" y="2451945"/>
            <a:ext cx="1651400" cy="164839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FC49244-DC44-2AC8-6490-035B013470D3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39705" y="5002078"/>
            <a:ext cx="1810521" cy="168200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0088350-E002-8200-ED72-7F7F7667A920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333234" y="5061822"/>
            <a:ext cx="1700562" cy="17041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248D4E9-9C34-1364-11C9-8E905774A0C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37787" y="5002077"/>
            <a:ext cx="1810521" cy="168200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80AD8AF-5CB2-C2F0-5489-E7608122E54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02912" y="4994418"/>
            <a:ext cx="1648392" cy="164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4413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FEAA9-23DA-6107-D669-10FD8240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DC05127-BCE0-3D22-1401-0F44EDA686BF}"/>
              </a:ext>
            </a:extLst>
          </p:cNvPr>
          <p:cNvSpPr txBox="1">
            <a:spLocks/>
          </p:cNvSpPr>
          <p:nvPr/>
        </p:nvSpPr>
        <p:spPr>
          <a:xfrm>
            <a:off x="131976" y="-240205"/>
            <a:ext cx="11613822" cy="101320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defPPr>
              <a:defRPr lang="es-ES"/>
            </a:defPPr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480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US" sz="3600" b="1">
                <a:latin typeface="Arial" panose="020B0604020202020204" pitchFamily="34" charset="0"/>
                <a:cs typeface="Arial" panose="020B0604020202020204" pitchFamily="34" charset="0"/>
              </a:rPr>
              <a:t>Let’s start some floating point simulations. Part 6 …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B96490-821E-6E44-8243-6E80EF10228E}"/>
              </a:ext>
            </a:extLst>
          </p:cNvPr>
          <p:cNvSpPr txBox="1"/>
          <p:nvPr/>
        </p:nvSpPr>
        <p:spPr>
          <a:xfrm>
            <a:off x="380308" y="944118"/>
            <a:ext cx="89334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US" sz="2400" b="1">
                <a:latin typeface="Arial" panose="020B0604020202020204" pitchFamily="34" charset="0"/>
                <a:cs typeface="Arial" panose="020B0604020202020204" pitchFamily="34" charset="0"/>
              </a:rPr>
              <a:t>We can apply the Inverse Fourier Transform to get the aliased images in the image space</a:t>
            </a:r>
            <a:endParaRPr lang="es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AD17B9-41F6-998E-08FA-6390BF270752}"/>
                  </a:ext>
                </a:extLst>
              </p:cNvPr>
              <p:cNvSpPr txBox="1"/>
              <p:nvPr/>
            </p:nvSpPr>
            <p:spPr>
              <a:xfrm>
                <a:off x="1195831" y="2370155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AD17B9-41F6-998E-08FA-6390BF270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831" y="2370155"/>
                <a:ext cx="560346" cy="276999"/>
              </a:xfrm>
              <a:prstGeom prst="rect">
                <a:avLst/>
              </a:prstGeom>
              <a:blipFill>
                <a:blip r:embed="rId2"/>
                <a:stretch>
                  <a:fillRect l="-10870" r="-9783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304F72-A25B-B83A-4423-6E9A198ED130}"/>
                  </a:ext>
                </a:extLst>
              </p:cNvPr>
              <p:cNvSpPr txBox="1"/>
              <p:nvPr/>
            </p:nvSpPr>
            <p:spPr>
              <a:xfrm>
                <a:off x="4229973" y="2370156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304F72-A25B-B83A-4423-6E9A198ED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973" y="2370156"/>
                <a:ext cx="560346" cy="276999"/>
              </a:xfrm>
              <a:prstGeom prst="rect">
                <a:avLst/>
              </a:prstGeom>
              <a:blipFill>
                <a:blip r:embed="rId3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B3D976-175A-96D7-2B07-1872AC52A4A7}"/>
                  </a:ext>
                </a:extLst>
              </p:cNvPr>
              <p:cNvSpPr txBox="1"/>
              <p:nvPr/>
            </p:nvSpPr>
            <p:spPr>
              <a:xfrm>
                <a:off x="7159855" y="2370156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2B3D976-175A-96D7-2B07-1872AC52A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855" y="2370156"/>
                <a:ext cx="560346" cy="276999"/>
              </a:xfrm>
              <a:prstGeom prst="rect">
                <a:avLst/>
              </a:prstGeom>
              <a:blipFill>
                <a:blip r:embed="rId4"/>
                <a:stretch>
                  <a:fillRect l="-10989" r="-9890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971E0B-2F21-C05A-8E30-DBCC308C00B8}"/>
                  </a:ext>
                </a:extLst>
              </p:cNvPr>
              <p:cNvSpPr txBox="1"/>
              <p:nvPr/>
            </p:nvSpPr>
            <p:spPr>
              <a:xfrm>
                <a:off x="10166981" y="2370154"/>
                <a:ext cx="5603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s-US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s-US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971E0B-2F21-C05A-8E30-DBCC308C0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6981" y="2370154"/>
                <a:ext cx="560346" cy="276999"/>
              </a:xfrm>
              <a:prstGeom prst="rect">
                <a:avLst/>
              </a:prstGeom>
              <a:blipFill>
                <a:blip r:embed="rId5"/>
                <a:stretch>
                  <a:fillRect l="-10870" r="-8696" b="-8889"/>
                </a:stretch>
              </a:blipFill>
            </p:spPr>
            <p:txBody>
              <a:bodyPr/>
              <a:lstStyle/>
              <a:p>
                <a:r>
                  <a:rPr lang="es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5276287-16A1-9E60-552D-874A6EFCA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976" y="2804025"/>
            <a:ext cx="2688056" cy="2506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7707A7-50ED-F235-AF73-8394DE17D1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2577" y="2813410"/>
            <a:ext cx="2575138" cy="25067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DB018D-5DCF-54F8-B373-AA93127D1B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2813410"/>
            <a:ext cx="2688057" cy="25161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C1074D-D9A5-80F8-C4F3-393278AFC6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8510" y="2813410"/>
            <a:ext cx="2597288" cy="251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931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4D90F-39AC-558A-D5A9-C7B7F9DE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18A330-4045-C753-8B15-A17A2ACEE0C6}"/>
              </a:ext>
            </a:extLst>
          </p:cNvPr>
          <p:cNvSpPr txBox="1"/>
          <p:nvPr/>
        </p:nvSpPr>
        <p:spPr>
          <a:xfrm>
            <a:off x="10064461" y="116670"/>
            <a:ext cx="21275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>
                <a:solidFill>
                  <a:srgbClr val="FF0000"/>
                </a:solidFill>
              </a:rPr>
              <a:t>Week: 13/03/2026 	</a:t>
            </a:r>
            <a:endParaRPr lang="es-US" sz="18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96490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Tisa Offc Serif Pro"/>
        <a:ea typeface=""/>
        <a:cs typeface=""/>
      </a:majorFont>
      <a:minorFont>
        <a:latin typeface="Qui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342554_TF10081922_Win32" id="{844886B3-BF47-497B-B4FE-2EF751E8CA35}" vid="{A6C54B32-D796-482B-83D4-8010EA1494B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49358-775F-4CF9-9AE6-33A7901637EF}">
  <ds:schemaRefs>
    <ds:schemaRef ds:uri="http://www.w3.org/XML/1998/namespace"/>
    <ds:schemaRef ds:uri="http://schemas.microsoft.com/sharepoint/v3"/>
    <ds:schemaRef ds:uri="71af3243-3dd4-4a8d-8c0d-dd76da1f02a5"/>
    <ds:schemaRef ds:uri="http://purl.org/dc/elements/1.1/"/>
    <ds:schemaRef ds:uri="http://purl.org/dc/terms/"/>
    <ds:schemaRef ds:uri="230e9df3-be65-4c73-a93b-d1236ebd677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{C3BCA008-1D6C-405B-BEBF-3FC2C131580D}tf10081922_win32</Template>
  <TotalTime>2210</TotalTime>
  <Words>1697</Words>
  <Application>Microsoft Office PowerPoint</Application>
  <PresentationFormat>Widescreen</PresentationFormat>
  <Paragraphs>227</Paragraphs>
  <Slides>48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Aptos</vt:lpstr>
      <vt:lpstr>Arial</vt:lpstr>
      <vt:lpstr>Calibri</vt:lpstr>
      <vt:lpstr>Cambria Math</vt:lpstr>
      <vt:lpstr>Quire Sans Pro Light</vt:lpstr>
      <vt:lpstr>Tisa Offc Serif Pro</vt:lpstr>
      <vt:lpstr>Personalizar</vt:lpstr>
      <vt:lpstr>  Implementación en FPGA de una arquitectura para la reconstrucción acelerada de imágenes de pMRI a partir de datos de k-espacio   </vt:lpstr>
      <vt:lpstr>Phased array coils</vt:lpstr>
      <vt:lpstr>PowerPoint Presentation</vt:lpstr>
      <vt:lpstr>PowerPoint Presentation</vt:lpstr>
      <vt:lpstr>PowerPoint Presentation</vt:lpstr>
      <vt:lpstr>Raw data from coils k-space</vt:lpstr>
      <vt:lpstr>PowerPoint Presentation</vt:lpstr>
      <vt:lpstr>PowerPoint Presentation</vt:lpstr>
      <vt:lpstr>PowerPoint Presentation</vt:lpstr>
      <vt:lpstr>Raw data from coils k-space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font</dc:creator>
  <cp:lastModifiedBy>julian font</cp:lastModifiedBy>
  <cp:revision>32</cp:revision>
  <dcterms:created xsi:type="dcterms:W3CDTF">2026-02-19T23:37:01Z</dcterms:created>
  <dcterms:modified xsi:type="dcterms:W3CDTF">2026-04-03T00:03:12Z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